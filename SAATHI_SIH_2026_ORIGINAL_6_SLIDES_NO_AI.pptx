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8.jpg"/><Relationship Id="rId4" Type="http://schemas.openxmlformats.org/officeDocument/2006/relationships/image" Target="../media/image6.jpg"/><Relationship Id="rId5" Type="http://schemas.openxmlformats.org/officeDocument/2006/relationships/image" Target="../media/image13.jpg"/><Relationship Id="rId6" Type="http://schemas.openxmlformats.org/officeDocument/2006/relationships/image" Target="../media/image3.png"/><Relationship Id="rId7"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73152"/>
            <a:ext cx="320040" cy="6784848"/>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athi-logo.png"/>
          <p:cNvPicPr>
            <a:picLocks noChangeAspect="1"/>
          </p:cNvPicPr>
          <p:nvPr/>
        </p:nvPicPr>
        <p:blipFill>
          <a:blip r:embed="rId2"/>
          <a:stretch>
            <a:fillRect/>
          </a:stretch>
        </p:blipFill>
        <p:spPr>
          <a:xfrm>
            <a:off x="548640" y="274320"/>
            <a:ext cx="1645920" cy="1661595"/>
          </a:xfrm>
          <a:prstGeom prst="rect">
            <a:avLst/>
          </a:prstGeom>
        </p:spPr>
      </p:pic>
      <p:sp>
        <p:nvSpPr>
          <p:cNvPr id="5" name="TextBox 4"/>
          <p:cNvSpPr txBox="1"/>
          <p:nvPr/>
        </p:nvSpPr>
        <p:spPr>
          <a:xfrm>
            <a:off x="548640" y="1005840"/>
            <a:ext cx="4572000" cy="274320"/>
          </a:xfrm>
          <a:prstGeom prst="rect">
            <a:avLst/>
          </a:prstGeom>
          <a:noFill/>
        </p:spPr>
        <p:txBody>
          <a:bodyPr wrap="square">
            <a:spAutoFit/>
          </a:bodyPr>
          <a:lstStyle/>
          <a:p>
            <a:pPr algn="l">
              <a:lnSpc>
                <a:spcPct val="120000"/>
              </a:lnSpc>
              <a:spcAft>
                <a:spcPts val="200"/>
              </a:spcAft>
              <a:defRPr sz="1000" b="0">
                <a:solidFill>
                  <a:srgbClr val="6B7280"/>
                </a:solidFill>
              </a:defRPr>
            </a:pPr>
            <a:r>
              <a:t>Problem Statement ID: 26004 | Theme: MedTech / Biomedical Devices | Category: Hardware IoT | Team ID: [Your ID]</a:t>
            </a:r>
          </a:p>
        </p:txBody>
      </p:sp>
      <p:sp>
        <p:nvSpPr>
          <p:cNvPr id="6" name="TextBox 5"/>
          <p:cNvSpPr txBox="1"/>
          <p:nvPr/>
        </p:nvSpPr>
        <p:spPr>
          <a:xfrm>
            <a:off x="548640" y="1371600"/>
            <a:ext cx="6400800" cy="822960"/>
          </a:xfrm>
          <a:prstGeom prst="rect">
            <a:avLst/>
          </a:prstGeom>
          <a:noFill/>
        </p:spPr>
        <p:txBody>
          <a:bodyPr wrap="square">
            <a:spAutoFit/>
          </a:bodyPr>
          <a:lstStyle/>
          <a:p>
            <a:pPr algn="l">
              <a:lnSpc>
                <a:spcPct val="100000"/>
              </a:lnSpc>
              <a:spcAft>
                <a:spcPts val="200"/>
              </a:spcAft>
              <a:defRPr sz="2600" b="1">
                <a:solidFill>
                  <a:srgbClr val="00685F"/>
                </a:solidFill>
              </a:defRPr>
            </a:pPr>
            <a:r>
              <a:t>SAATHI: Low-Cost Tibial Load Screening Node for Rural Knee Health</a:t>
            </a:r>
          </a:p>
        </p:txBody>
      </p:sp>
      <p:sp>
        <p:nvSpPr>
          <p:cNvPr id="7" name="TextBox 6"/>
          <p:cNvSpPr txBox="1"/>
          <p:nvPr/>
        </p:nvSpPr>
        <p:spPr>
          <a:xfrm>
            <a:off x="548640" y="2194560"/>
            <a:ext cx="6400800" cy="548640"/>
          </a:xfrm>
          <a:prstGeom prst="rect">
            <a:avLst/>
          </a:prstGeom>
          <a:noFill/>
        </p:spPr>
        <p:txBody>
          <a:bodyPr wrap="square">
            <a:spAutoFit/>
          </a:bodyPr>
          <a:lstStyle/>
          <a:p>
            <a:pPr algn="l">
              <a:lnSpc>
                <a:spcPct val="120000"/>
              </a:lnSpc>
              <a:spcAft>
                <a:spcPts val="200"/>
              </a:spcAft>
              <a:defRPr sz="1300" b="0">
                <a:solidFill>
                  <a:srgbClr val="1A1A2E"/>
                </a:solidFill>
              </a:defRPr>
            </a:pPr>
            <a:r>
              <a:t>Point-of-Care Screening Support for ASHA Workers and Primary Health Centres</a:t>
            </a:r>
            <a:br/>
            <a:r>
              <a:t>Designed for Indian Rural Context - Works Without Internet</a:t>
            </a:r>
          </a:p>
        </p:txBody>
      </p:sp>
      <p:sp>
        <p:nvSpPr>
          <p:cNvPr id="8" name="Rounded Rectangle 7"/>
          <p:cNvSpPr/>
          <p:nvPr/>
        </p:nvSpPr>
        <p:spPr>
          <a:xfrm>
            <a:off x="548640" y="2834640"/>
            <a:ext cx="6583680" cy="356616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26080"/>
            <a:ext cx="6217920" cy="274320"/>
          </a:xfrm>
          <a:prstGeom prst="rect">
            <a:avLst/>
          </a:prstGeom>
          <a:noFill/>
        </p:spPr>
        <p:txBody>
          <a:bodyPr wrap="square">
            <a:spAutoFit/>
          </a:bodyPr>
          <a:lstStyle/>
          <a:p>
            <a:pPr algn="l">
              <a:lnSpc>
                <a:spcPct val="120000"/>
              </a:lnSpc>
              <a:spcAft>
                <a:spcPts val="200"/>
              </a:spcAft>
              <a:defRPr sz="1200" b="1">
                <a:solidFill>
                  <a:srgbClr val="00685F"/>
                </a:solidFill>
              </a:defRPr>
            </a:pPr>
            <a:r>
              <a:t>Core Idea in Simple Words</a:t>
            </a:r>
          </a:p>
        </p:txBody>
      </p:sp>
      <p:sp>
        <p:nvSpPr>
          <p:cNvPr id="10" name="TextBox 9"/>
          <p:cNvSpPr txBox="1"/>
          <p:nvPr/>
        </p:nvSpPr>
        <p:spPr>
          <a:xfrm>
            <a:off x="731520" y="3200400"/>
            <a:ext cx="6217920" cy="3017520"/>
          </a:xfrm>
          <a:prstGeom prst="rect">
            <a:avLst/>
          </a:prstGeom>
          <a:noFill/>
        </p:spPr>
        <p:txBody>
          <a:bodyPr wrap="square">
            <a:spAutoFit/>
          </a:bodyPr>
          <a:lstStyle/>
          <a:p>
            <a:pPr algn="l">
              <a:lnSpc>
                <a:spcPct val="130000"/>
              </a:lnSpc>
              <a:spcAft>
                <a:spcPts val="200"/>
              </a:spcAft>
              <a:defRPr sz="1000" b="0">
                <a:solidFill>
                  <a:srgbClr val="1A1A2E"/>
                </a:solidFill>
              </a:defRPr>
            </a:pPr>
            <a:r>
              <a:t>In villages, knee pain is often ignored as age-related. When patients finally reach district hospitals, joint damage is severe and surgery costs around 3 lakhs, which is unaffordable for farming families.</a:t>
            </a:r>
            <a:br/>
            <a:br/>
            <a:r>
              <a:t>Village clinics cannot have expensive gait laboratories costing 50 lakhs. Doctors checking patients lying on beds cannot see problems that appear only while walking with load.</a:t>
            </a:r>
            <a:br/>
            <a:br/>
            <a:r>
              <a:t>Our approach: A small wearable band placed just below the knee on the shin bone. The shin has almost no fat, so the sensor directly feels bone vibrations during walking. It measures how much shock the knee absorbs and how much side pressure occurs.</a:t>
            </a:r>
            <a:br/>
            <a:br/>
            <a:r>
              <a:t>The band connects to a phone app that works fully offline, asks 8 simple daily-life questions, checks knee bending with camera (without saving video), and gives a color result in 20 seconds: Green (healthy), Yellow (early wear - check in 45 days), Red (needs urgent doctor visit in 14 days).</a:t>
            </a:r>
            <a:br/>
            <a:br/>
            <a:r>
              <a:t>If there is no internet, the app creates an encrypted QR code that the district doctor can scan offline. When network returns, data automatically goes to the PHC dashboard built by Saran for village-level tracking.</a:t>
            </a:r>
          </a:p>
        </p:txBody>
      </p:sp>
      <p:pic>
        <p:nvPicPr>
          <p:cNvPr id="11" name="Picture 10" descr="asha-worker-rural-india-healthcare-1.jpg"/>
          <p:cNvPicPr>
            <a:picLocks noChangeAspect="1"/>
          </p:cNvPicPr>
          <p:nvPr/>
        </p:nvPicPr>
        <p:blipFill>
          <a:blip r:embed="rId3"/>
          <a:stretch>
            <a:fillRect/>
          </a:stretch>
        </p:blipFill>
        <p:spPr>
          <a:xfrm>
            <a:off x="7498079" y="365760"/>
            <a:ext cx="4389120" cy="2286000"/>
          </a:xfrm>
          <a:prstGeom prst="rect">
            <a:avLst/>
          </a:prstGeom>
        </p:spPr>
      </p:pic>
      <p:pic>
        <p:nvPicPr>
          <p:cNvPr id="12" name="Picture 11" descr="knee-osteoarthritis-x-ray-cartilage-2.png"/>
          <p:cNvPicPr>
            <a:picLocks noChangeAspect="1"/>
          </p:cNvPicPr>
          <p:nvPr/>
        </p:nvPicPr>
        <p:blipFill>
          <a:blip r:embed="rId4"/>
          <a:stretch>
            <a:fillRect/>
          </a:stretch>
        </p:blipFill>
        <p:spPr>
          <a:xfrm>
            <a:off x="7498079" y="2834640"/>
            <a:ext cx="2103120" cy="1280160"/>
          </a:xfrm>
          <a:prstGeom prst="rect">
            <a:avLst/>
          </a:prstGeom>
        </p:spPr>
      </p:pic>
      <p:pic>
        <p:nvPicPr>
          <p:cNvPr id="13" name="Picture 12" descr="bluetooth-low-energy-wearable-sensor-ban-1.jpg"/>
          <p:cNvPicPr>
            <a:picLocks noChangeAspect="1"/>
          </p:cNvPicPr>
          <p:nvPr/>
        </p:nvPicPr>
        <p:blipFill>
          <a:blip r:embed="rId5"/>
          <a:stretch>
            <a:fillRect/>
          </a:stretch>
        </p:blipFill>
        <p:spPr>
          <a:xfrm>
            <a:off x="9784080" y="2834640"/>
            <a:ext cx="2103120" cy="1280160"/>
          </a:xfrm>
          <a:prstGeom prst="rect">
            <a:avLst/>
          </a:prstGeom>
        </p:spPr>
      </p:pic>
      <p:sp>
        <p:nvSpPr>
          <p:cNvPr id="14" name="Rounded Rectangle 13"/>
          <p:cNvSpPr/>
          <p:nvPr/>
        </p:nvSpPr>
        <p:spPr>
          <a:xfrm>
            <a:off x="7498079" y="4297680"/>
            <a:ext cx="4389120" cy="210312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0" y="4389120"/>
            <a:ext cx="4023360" cy="1920240"/>
          </a:xfrm>
          <a:prstGeom prst="rect">
            <a:avLst/>
          </a:prstGeom>
          <a:noFill/>
        </p:spPr>
        <p:txBody>
          <a:bodyPr wrap="square">
            <a:spAutoFit/>
          </a:bodyPr>
          <a:lstStyle/>
          <a:p>
            <a:pPr algn="l">
              <a:lnSpc>
                <a:spcPct val="120000"/>
              </a:lnSpc>
              <a:spcAft>
                <a:spcPts val="200"/>
              </a:spcAft>
              <a:defRPr sz="1000" b="0">
                <a:solidFill>
                  <a:srgbClr val="1A1A2E"/>
                </a:solidFill>
              </a:defRPr>
            </a:pPr>
            <a:r>
              <a:t>Why This Design Fits India:</a:t>
            </a:r>
            <a:br/>
            <a:r>
              <a:t>• Single band below knee - no need to remove Saree or Dhoti</a:t>
            </a:r>
            <a:br/>
            <a:r>
              <a:t>• Shin placement avoids fat wobble and cloth slipping</a:t>
            </a:r>
            <a:br/>
            <a:r>
              <a:t>• Works like stethoscope for knee - feels bone shock directly</a:t>
            </a:r>
            <a:br/>
            <a:r>
              <a:t>• Total cost: Rs 1,070 prototype, Rs 820 in bulk (99.9% cheaper than lab)</a:t>
            </a:r>
            <a:br/>
            <a:r>
              <a:t>• 100% offline, 8-hour battery, 15-minute training for ASHA</a:t>
            </a:r>
            <a:br/>
            <a:r>
              <a:t>• All real hardware photos used - no AI generated visuals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2000" b="1">
                <a:solidFill>
                  <a:srgbClr val="FFFFFF"/>
                </a:solidFill>
              </a:defRPr>
            </a:pPr>
            <a:r>
              <a:t>2. Proposed Solution, Approach and Novelty</a:t>
            </a:r>
          </a:p>
        </p:txBody>
      </p:sp>
      <p:sp>
        <p:nvSpPr>
          <p:cNvPr id="4" name="Rounded Rectangle 3"/>
          <p:cNvSpPr/>
          <p:nvPr/>
        </p:nvSpPr>
        <p:spPr>
          <a:xfrm>
            <a:off x="365760" y="1097280"/>
            <a:ext cx="45720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4206240" cy="274320"/>
          </a:xfrm>
          <a:prstGeom prst="rect">
            <a:avLst/>
          </a:prstGeom>
          <a:noFill/>
        </p:spPr>
        <p:txBody>
          <a:bodyPr wrap="square">
            <a:spAutoFit/>
          </a:bodyPr>
          <a:lstStyle/>
          <a:p>
            <a:pPr algn="l">
              <a:lnSpc>
                <a:spcPct val="120000"/>
              </a:lnSpc>
              <a:spcAft>
                <a:spcPts val="200"/>
              </a:spcAft>
              <a:defRPr sz="1200" b="1">
                <a:solidFill>
                  <a:srgbClr val="00685F"/>
                </a:solidFill>
              </a:defRPr>
            </a:pPr>
            <a:r>
              <a:t>Proposed Solution - Three Parts (Original Design)</a:t>
            </a:r>
          </a:p>
        </p:txBody>
      </p:sp>
      <p:sp>
        <p:nvSpPr>
          <p:cNvPr id="6" name="Rounded Rectangle 5"/>
          <p:cNvSpPr/>
          <p:nvPr/>
        </p:nvSpPr>
        <p:spPr>
          <a:xfrm>
            <a:off x="548640" y="1554480"/>
            <a:ext cx="4206240" cy="155448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00200"/>
            <a:ext cx="4023360" cy="1371600"/>
          </a:xfrm>
          <a:prstGeom prst="rect">
            <a:avLst/>
          </a:prstGeom>
          <a:noFill/>
        </p:spPr>
        <p:txBody>
          <a:bodyPr wrap="square">
            <a:spAutoFit/>
          </a:bodyPr>
          <a:lstStyle/>
          <a:p>
            <a:pPr algn="l">
              <a:lnSpc>
                <a:spcPct val="120000"/>
              </a:lnSpc>
              <a:spcAft>
                <a:spcPts val="200"/>
              </a:spcAft>
              <a:defRPr sz="900" b="0">
                <a:solidFill>
                  <a:srgbClr val="1A1A2E"/>
                </a:solidFill>
              </a:defRPr>
            </a:pPr>
            <a:r>
              <a:t>Part 1 - Wearable Hardware:</a:t>
            </a:r>
            <a:br/>
            <a:r>
              <a:t>• Small band with motion sensor worn 2cm below knee on shin</a:t>
            </a:r>
            <a:br/>
            <a:r>
              <a:t>• Captures walking impact and side twist 100 times per second</a:t>
            </a:r>
            <a:br/>
            <a:r>
              <a:t>• Controller: ESP32-S3 with Bluetooth, Sensor: MPU-6050, Display: 0.96 inch OLED, Battery: 500mAh LiPo with USB-C</a:t>
            </a:r>
            <a:br/>
            <a:r>
              <a:t>• Dual-core processing: one core reads sensor, other handles Bluetooth and display without lag</a:t>
            </a:r>
          </a:p>
        </p:txBody>
      </p:sp>
      <p:sp>
        <p:nvSpPr>
          <p:cNvPr id="8" name="Rounded Rectangle 7"/>
          <p:cNvSpPr/>
          <p:nvPr/>
        </p:nvSpPr>
        <p:spPr>
          <a:xfrm>
            <a:off x="548640" y="3291840"/>
            <a:ext cx="4206240" cy="155448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337560"/>
            <a:ext cx="4023360" cy="1371600"/>
          </a:xfrm>
          <a:prstGeom prst="rect">
            <a:avLst/>
          </a:prstGeom>
          <a:noFill/>
        </p:spPr>
        <p:txBody>
          <a:bodyPr wrap="square">
            <a:spAutoFit/>
          </a:bodyPr>
          <a:lstStyle/>
          <a:p>
            <a:pPr algn="l">
              <a:lnSpc>
                <a:spcPct val="120000"/>
              </a:lnSpc>
              <a:spcAft>
                <a:spcPts val="200"/>
              </a:spcAft>
              <a:defRPr sz="900" b="0">
                <a:solidFill>
                  <a:srgbClr val="1A1A2E"/>
                </a:solidFill>
              </a:defRPr>
            </a:pPr>
            <a:r>
              <a:t>Part 2 - Mobile App (20 Features, Fully Offline):</a:t>
            </a:r>
            <a:br/>
            <a:r>
              <a:t>• Built with React, works as PWA and Android APK, stores data locally when offline</a:t>
            </a:r>
            <a:br/>
            <a:r>
              <a:t>• Features: Login with demo mode, local language support with voice, dashboard with sync status, 3-step patient registration, BMI auto-calculation, medical history, joint selector, 8 daily-life questions, Bluetooth pairing, 4-step calibration, 30-second walk test with live chart, camera checks for knee bending and chair-stand (no video saved)</a:t>
            </a:r>
            <a:br/>
            <a:r>
              <a:t>• Gives result in 20 seconds: Green/Yellow/Red/Gray with simple numbers for shock, twist, cartilage reserve</a:t>
            </a:r>
          </a:p>
        </p:txBody>
      </p:sp>
      <p:sp>
        <p:nvSpPr>
          <p:cNvPr id="10" name="Rounded Rectangle 9"/>
          <p:cNvSpPr/>
          <p:nvPr/>
        </p:nvSpPr>
        <p:spPr>
          <a:xfrm>
            <a:off x="548640" y="5029200"/>
            <a:ext cx="4206240" cy="137160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074920"/>
            <a:ext cx="4023360" cy="1188720"/>
          </a:xfrm>
          <a:prstGeom prst="rect">
            <a:avLst/>
          </a:prstGeom>
          <a:noFill/>
        </p:spPr>
        <p:txBody>
          <a:bodyPr wrap="square">
            <a:spAutoFit/>
          </a:bodyPr>
          <a:lstStyle/>
          <a:p>
            <a:pPr algn="l">
              <a:lnSpc>
                <a:spcPct val="120000"/>
              </a:lnSpc>
              <a:spcAft>
                <a:spcPts val="200"/>
              </a:spcAft>
              <a:defRPr sz="900" b="0">
                <a:solidFill>
                  <a:srgbClr val="1A1A2E"/>
                </a:solidFill>
              </a:defRPr>
            </a:pPr>
            <a:r>
              <a:t>Part 3 - Referral and Dashboard (Saran's Work):</a:t>
            </a:r>
            <a:br/>
            <a:r>
              <a:t>• Creates encrypted QR code on phone screen containing all test data - doctor scans offline without internet</a:t>
            </a:r>
            <a:br/>
            <a:r>
              <a:t>• When phone gets network, auto-uploads to cloud database (Node.js, PostgreSQL)</a:t>
            </a:r>
            <a:br/>
            <a:r>
              <a:t>• PHC dashboard shows village maps with risk levels, list of high-risk patients needing urgent care, charts of healthy vs wear vs severe, ASHA worker activity, and camp planning</a:t>
            </a:r>
          </a:p>
        </p:txBody>
      </p:sp>
      <p:sp>
        <p:nvSpPr>
          <p:cNvPr id="12" name="Rounded Rectangle 11"/>
          <p:cNvSpPr/>
          <p:nvPr/>
        </p:nvSpPr>
        <p:spPr>
          <a:xfrm>
            <a:off x="5303520" y="1097280"/>
            <a:ext cx="3200400" cy="2286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1188720"/>
            <a:ext cx="2834640" cy="274320"/>
          </a:xfrm>
          <a:prstGeom prst="rect">
            <a:avLst/>
          </a:prstGeom>
          <a:noFill/>
        </p:spPr>
        <p:txBody>
          <a:bodyPr wrap="square">
            <a:spAutoFit/>
          </a:bodyPr>
          <a:lstStyle/>
          <a:p>
            <a:pPr algn="l">
              <a:lnSpc>
                <a:spcPct val="120000"/>
              </a:lnSpc>
              <a:spcAft>
                <a:spcPts val="200"/>
              </a:spcAft>
              <a:defRPr sz="1100" b="1">
                <a:solidFill>
                  <a:srgbClr val="00685F"/>
                </a:solidFill>
              </a:defRPr>
            </a:pPr>
            <a:r>
              <a:t>Approach - How We Built It</a:t>
            </a:r>
          </a:p>
        </p:txBody>
      </p:sp>
      <p:sp>
        <p:nvSpPr>
          <p:cNvPr id="14" name="Rounded Rectangle 13"/>
          <p:cNvSpPr/>
          <p:nvPr/>
        </p:nvSpPr>
        <p:spPr>
          <a:xfrm>
            <a:off x="5486400" y="1554480"/>
            <a:ext cx="2834640" cy="457200"/>
          </a:xfrm>
          <a:prstGeom prst="roundRect">
            <a:avLst/>
          </a:prstGeom>
          <a:solidFill>
            <a:srgbClr val="D5F8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1: Found gap - bed check misses walking problem, labs too costly, thigh bands slip on Saree</a:t>
            </a:r>
          </a:p>
        </p:txBody>
      </p:sp>
      <p:sp>
        <p:nvSpPr>
          <p:cNvPr id="15" name="Down Arrow 14"/>
          <p:cNvSpPr/>
          <p:nvPr/>
        </p:nvSpPr>
        <p:spPr>
          <a:xfrm>
            <a:off x="6400800" y="2057400"/>
            <a:ext cx="45720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0" y="2286000"/>
            <a:ext cx="2834640" cy="457200"/>
          </a:xfrm>
          <a:prstGeom prst="roundRect">
            <a:avLst/>
          </a:prstGeom>
          <a:solidFill>
            <a:srgbClr val="99EFE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2: Built frugal shin node with 100Hz sampling + offline app with voice guidance</a:t>
            </a:r>
          </a:p>
        </p:txBody>
      </p:sp>
      <p:sp>
        <p:nvSpPr>
          <p:cNvPr id="17" name="Down Arrow 16"/>
          <p:cNvSpPr/>
          <p:nvPr/>
        </p:nvSpPr>
        <p:spPr>
          <a:xfrm>
            <a:off x="6400800" y="2788920"/>
            <a:ext cx="45720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0" y="3017520"/>
            <a:ext cx="2834640" cy="45720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1">
                <a:solidFill>
                  <a:srgbClr val="FFFFFF"/>
                </a:solidFill>
              </a:defRPr>
            </a:pPr>
            <a:r>
              <a:t>Step 3: Tested doorstep workflow + offline QR + PHC dashboard for real rural use</a:t>
            </a:r>
          </a:p>
        </p:txBody>
      </p:sp>
      <p:sp>
        <p:nvSpPr>
          <p:cNvPr id="19" name="Rounded Rectangle 18"/>
          <p:cNvSpPr/>
          <p:nvPr/>
        </p:nvSpPr>
        <p:spPr>
          <a:xfrm>
            <a:off x="5303520" y="3566160"/>
            <a:ext cx="6492240" cy="30175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3657600"/>
            <a:ext cx="6126480" cy="274320"/>
          </a:xfrm>
          <a:prstGeom prst="rect">
            <a:avLst/>
          </a:prstGeom>
          <a:noFill/>
        </p:spPr>
        <p:txBody>
          <a:bodyPr wrap="square">
            <a:spAutoFit/>
          </a:bodyPr>
          <a:lstStyle/>
          <a:p>
            <a:pPr algn="l">
              <a:lnSpc>
                <a:spcPct val="120000"/>
              </a:lnSpc>
              <a:spcAft>
                <a:spcPts val="200"/>
              </a:spcAft>
              <a:defRPr sz="1100" b="1">
                <a:solidFill>
                  <a:srgbClr val="00685F"/>
                </a:solidFill>
              </a:defRPr>
            </a:pPr>
            <a:r>
              <a:t>Novelty - What Makes It Different (6 Points)</a:t>
            </a:r>
          </a:p>
        </p:txBody>
      </p:sp>
      <p:sp>
        <p:nvSpPr>
          <p:cNvPr id="21" name="Rounded Rectangle 20"/>
          <p:cNvSpPr/>
          <p:nvPr/>
        </p:nvSpPr>
        <p:spPr>
          <a:xfrm>
            <a:off x="5486400" y="4023360"/>
            <a:ext cx="3657600" cy="365760"/>
          </a:xfrm>
          <a:prstGeom prst="roundRect">
            <a:avLst/>
          </a:prstGeom>
          <a:solidFill>
            <a:srgbClr val="EFF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Saree and Dhoti friendly: Below-knee placement means no cloth adjustment needed, comfortable for rural women and farmers</a:t>
            </a:r>
          </a:p>
        </p:txBody>
      </p:sp>
      <p:sp>
        <p:nvSpPr>
          <p:cNvPr id="22" name="Rounded Rectangle 21"/>
          <p:cNvSpPr/>
          <p:nvPr/>
        </p:nvSpPr>
        <p:spPr>
          <a:xfrm>
            <a:off x="5486400" y="4434840"/>
            <a:ext cx="3657600" cy="365760"/>
          </a:xfrm>
          <a:prstGeom prst="roundRect">
            <a:avLst/>
          </a:prstGeom>
          <a:solidFill>
            <a:srgbClr val="EFF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Frugal cost: Rs 1,070 prototype, Rs 820 in bulk production - almost 99.9% less than imported gait labs</a:t>
            </a:r>
          </a:p>
        </p:txBody>
      </p:sp>
      <p:sp>
        <p:nvSpPr>
          <p:cNvPr id="23" name="Rounded Rectangle 22"/>
          <p:cNvSpPr/>
          <p:nvPr/>
        </p:nvSpPr>
        <p:spPr>
          <a:xfrm>
            <a:off x="5486400" y="4846320"/>
            <a:ext cx="3657600" cy="365760"/>
          </a:xfrm>
          <a:prstGeom prst="roundRect">
            <a:avLst/>
          </a:prstGeom>
          <a:solidFill>
            <a:srgbClr val="EFF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100Hz reliable sampling: Dual-core FreeRTOS ensures sensor reading never misses, even when display updates</a:t>
            </a:r>
          </a:p>
        </p:txBody>
      </p:sp>
      <p:sp>
        <p:nvSpPr>
          <p:cNvPr id="24" name="Rounded Rectangle 23"/>
          <p:cNvSpPr/>
          <p:nvPr/>
        </p:nvSpPr>
        <p:spPr>
          <a:xfrm>
            <a:off x="5486400" y="5257800"/>
            <a:ext cx="3657600" cy="365760"/>
          </a:xfrm>
          <a:prstGeom prst="roundRect">
            <a:avLst/>
          </a:prstGeom>
          <a:solidFill>
            <a:srgbClr val="EFF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Two meaningful measures: Walking shock absorption and side twisting pressure - both linked to cartilage health in research</a:t>
            </a:r>
          </a:p>
        </p:txBody>
      </p:sp>
      <p:sp>
        <p:nvSpPr>
          <p:cNvPr id="25" name="Rounded Rectangle 24"/>
          <p:cNvSpPr/>
          <p:nvPr/>
        </p:nvSpPr>
        <p:spPr>
          <a:xfrm>
            <a:off x="5486400" y="5669280"/>
            <a:ext cx="3657600" cy="365760"/>
          </a:xfrm>
          <a:prstGeom prst="roundRect">
            <a:avLst/>
          </a:prstGeom>
          <a:solidFill>
            <a:srgbClr val="EFF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Zero-internet QR referral: Encrypted QR carries full test data, district doctor scans offline without cloud</a:t>
            </a:r>
          </a:p>
        </p:txBody>
      </p:sp>
      <p:sp>
        <p:nvSpPr>
          <p:cNvPr id="26" name="Rounded Rectangle 25"/>
          <p:cNvSpPr/>
          <p:nvPr/>
        </p:nvSpPr>
        <p:spPr>
          <a:xfrm>
            <a:off x="5486400" y="6080760"/>
            <a:ext cx="3657600" cy="365760"/>
          </a:xfrm>
          <a:prstGeom prst="roundRect">
            <a:avLst/>
          </a:prstGeom>
          <a:solidFill>
            <a:srgbClr val="EFF4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Camera checks without privacy risk: Measures knee bending angle and chair-stand count using on-device tracking, no video stored</a:t>
            </a:r>
          </a:p>
        </p:txBody>
      </p:sp>
      <p:pic>
        <p:nvPicPr>
          <p:cNvPr id="27" name="Picture 26" descr="esp32-s3-supermini-microcontroller-board-2.jpg"/>
          <p:cNvPicPr>
            <a:picLocks noChangeAspect="1"/>
          </p:cNvPicPr>
          <p:nvPr/>
        </p:nvPicPr>
        <p:blipFill>
          <a:blip r:embed="rId2"/>
          <a:stretch>
            <a:fillRect/>
          </a:stretch>
        </p:blipFill>
        <p:spPr>
          <a:xfrm>
            <a:off x="9326880" y="4023360"/>
            <a:ext cx="2560320" cy="2286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2000" b="1">
                <a:solidFill>
                  <a:srgbClr val="FFFFFF"/>
                </a:solidFill>
              </a:defRPr>
            </a:pPr>
            <a:r>
              <a:t>3. Technical Approach - Stack and Workflow</a:t>
            </a:r>
          </a:p>
        </p:txBody>
      </p:sp>
      <p:sp>
        <p:nvSpPr>
          <p:cNvPr id="4" name="Rounded Rectangle 3"/>
          <p:cNvSpPr/>
          <p:nvPr/>
        </p:nvSpPr>
        <p:spPr>
          <a:xfrm>
            <a:off x="365760" y="1097280"/>
            <a:ext cx="45720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4206240" cy="274320"/>
          </a:xfrm>
          <a:prstGeom prst="rect">
            <a:avLst/>
          </a:prstGeom>
          <a:noFill/>
        </p:spPr>
        <p:txBody>
          <a:bodyPr wrap="square">
            <a:spAutoFit/>
          </a:bodyPr>
          <a:lstStyle/>
          <a:p>
            <a:pPr algn="l">
              <a:lnSpc>
                <a:spcPct val="120000"/>
              </a:lnSpc>
              <a:spcAft>
                <a:spcPts val="200"/>
              </a:spcAft>
              <a:defRPr sz="1200" b="1">
                <a:solidFill>
                  <a:srgbClr val="00685F"/>
                </a:solidFill>
              </a:defRPr>
            </a:pPr>
            <a:r>
              <a:t>Technology Used (Real Hardware Photos)</a:t>
            </a:r>
          </a:p>
        </p:txBody>
      </p:sp>
      <p:sp>
        <p:nvSpPr>
          <p:cNvPr id="6" name="TextBox 5"/>
          <p:cNvSpPr txBox="1"/>
          <p:nvPr/>
        </p:nvSpPr>
        <p:spPr>
          <a:xfrm>
            <a:off x="548640" y="1554480"/>
            <a:ext cx="2560320" cy="4114800"/>
          </a:xfrm>
          <a:prstGeom prst="rect">
            <a:avLst/>
          </a:prstGeom>
          <a:noFill/>
        </p:spPr>
        <p:txBody>
          <a:bodyPr wrap="square">
            <a:spAutoFit/>
          </a:bodyPr>
          <a:lstStyle/>
          <a:p>
            <a:pPr>
              <a:defRPr sz="800">
                <a:solidFill>
                  <a:srgbClr val="1A1A2E"/>
                </a:solidFill>
              </a:defRPr>
            </a:pPr>
            <a:r>
              <a:t>• Controller: ESP32-S3 SuperMini - small board with dual-core processor and Bluetooth (see real photo)</a:t>
            </a:r>
          </a:p>
          <a:p>
            <a:pPr>
              <a:spcAft>
                <a:spcPts val="300"/>
              </a:spcAft>
              <a:defRPr sz="800">
                <a:solidFill>
                  <a:srgbClr val="1A1A2E"/>
                </a:solidFill>
              </a:defRPr>
            </a:pPr>
            <a:r>
              <a:t>• Sensor: MPU-6050 - 6-axis motion sensor that measures acceleration and rotation (see real photo)</a:t>
            </a:r>
          </a:p>
          <a:p>
            <a:pPr>
              <a:spcAft>
                <a:spcPts val="300"/>
              </a:spcAft>
              <a:defRPr sz="800">
                <a:solidFill>
                  <a:srgbClr val="1A1A2E"/>
                </a:solidFill>
              </a:defRPr>
            </a:pPr>
            <a:r>
              <a:t>• Display and Power: 0.96 inch OLED screen for bedside display + 500mAh rechargeable battery with USB-C charging</a:t>
            </a:r>
          </a:p>
          <a:p>
            <a:pPr>
              <a:spcAft>
                <a:spcPts val="300"/>
              </a:spcAft>
              <a:defRPr sz="800">
                <a:solidFill>
                  <a:srgbClr val="1A1A2E"/>
                </a:solidFill>
              </a:defRPr>
            </a:pPr>
            <a:r>
              <a:t>• Firmware: FreeRTOS with fast I2C communication, uses mutex to avoid display and sensor conflict, sends 16-byte binary data via BLE (1.6 KB/s - efficient)</a:t>
            </a:r>
          </a:p>
          <a:p>
            <a:pPr>
              <a:spcAft>
                <a:spcPts val="300"/>
              </a:spcAft>
              <a:defRPr sz="800">
                <a:solidFill>
                  <a:srgbClr val="1A1A2E"/>
                </a:solidFill>
              </a:defRPr>
            </a:pPr>
            <a:r>
              <a:t>• App: React-based mobile app that works offline, stores data in IndexedDB, built as Android APK for government phones</a:t>
            </a:r>
          </a:p>
          <a:p>
            <a:pPr>
              <a:spcAft>
                <a:spcPts val="300"/>
              </a:spcAft>
              <a:defRPr sz="800">
                <a:solidFill>
                  <a:srgbClr val="1A1A2E"/>
                </a:solidFill>
              </a:defRPr>
            </a:pPr>
            <a:r>
              <a:t>• Vision: MediaPipe Pose tracks 33 body points on phone itself to measure knee angle and count chair stands - no video saved or uploaded (see diagram)</a:t>
            </a:r>
          </a:p>
          <a:p>
            <a:pPr>
              <a:spcAft>
                <a:spcPts val="300"/>
              </a:spcAft>
              <a:defRPr sz="800">
                <a:solidFill>
                  <a:srgbClr val="1A1A2E"/>
                </a:solidFill>
              </a:defRPr>
            </a:pPr>
            <a:r>
              <a:t>• Cloud: Node.js API with PostgreSQL database for PHC dashboard, shows charts and maps</a:t>
            </a:r>
          </a:p>
        </p:txBody>
      </p:sp>
      <p:pic>
        <p:nvPicPr>
          <p:cNvPr id="7" name="Picture 6" descr="esp32-s3-supermini-microcontroller-board-1.jpg"/>
          <p:cNvPicPr>
            <a:picLocks noChangeAspect="1"/>
          </p:cNvPicPr>
          <p:nvPr/>
        </p:nvPicPr>
        <p:blipFill>
          <a:blip r:embed="rId2"/>
          <a:stretch>
            <a:fillRect/>
          </a:stretch>
        </p:blipFill>
        <p:spPr>
          <a:xfrm>
            <a:off x="3291840" y="1554480"/>
            <a:ext cx="1463040" cy="731520"/>
          </a:xfrm>
          <a:prstGeom prst="rect">
            <a:avLst/>
          </a:prstGeom>
        </p:spPr>
      </p:pic>
      <p:pic>
        <p:nvPicPr>
          <p:cNvPr id="8" name="Picture 7" descr="mpu6050-gyroscope-accelerometer-sensor-m-1.jpg"/>
          <p:cNvPicPr>
            <a:picLocks noChangeAspect="1"/>
          </p:cNvPicPr>
          <p:nvPr/>
        </p:nvPicPr>
        <p:blipFill>
          <a:blip r:embed="rId3"/>
          <a:stretch>
            <a:fillRect/>
          </a:stretch>
        </p:blipFill>
        <p:spPr>
          <a:xfrm>
            <a:off x="3291840" y="2377440"/>
            <a:ext cx="1463040" cy="731520"/>
          </a:xfrm>
          <a:prstGeom prst="rect">
            <a:avLst/>
          </a:prstGeom>
        </p:spPr>
      </p:pic>
      <p:pic>
        <p:nvPicPr>
          <p:cNvPr id="9" name="Picture 8" descr="oled-display-ssd1306-0-96-inch-1.jpg"/>
          <p:cNvPicPr>
            <a:picLocks noChangeAspect="1"/>
          </p:cNvPicPr>
          <p:nvPr/>
        </p:nvPicPr>
        <p:blipFill>
          <a:blip r:embed="rId4"/>
          <a:stretch>
            <a:fillRect/>
          </a:stretch>
        </p:blipFill>
        <p:spPr>
          <a:xfrm>
            <a:off x="3291840" y="3200400"/>
            <a:ext cx="1463040" cy="731520"/>
          </a:xfrm>
          <a:prstGeom prst="rect">
            <a:avLst/>
          </a:prstGeom>
        </p:spPr>
      </p:pic>
      <p:pic>
        <p:nvPicPr>
          <p:cNvPr id="10" name="Picture 9" descr="mediapipe-pose-detection-33-landmarks-1.png"/>
          <p:cNvPicPr>
            <a:picLocks noChangeAspect="1"/>
          </p:cNvPicPr>
          <p:nvPr/>
        </p:nvPicPr>
        <p:blipFill>
          <a:blip r:embed="rId5"/>
          <a:stretch>
            <a:fillRect/>
          </a:stretch>
        </p:blipFill>
        <p:spPr>
          <a:xfrm>
            <a:off x="3291840" y="4023360"/>
            <a:ext cx="1463040" cy="731520"/>
          </a:xfrm>
          <a:prstGeom prst="rect">
            <a:avLst/>
          </a:prstGeom>
        </p:spPr>
      </p:pic>
      <p:pic>
        <p:nvPicPr>
          <p:cNvPr id="11" name="Picture 10" descr="react-js-logo-1.png"/>
          <p:cNvPicPr>
            <a:picLocks noChangeAspect="1"/>
          </p:cNvPicPr>
          <p:nvPr/>
        </p:nvPicPr>
        <p:blipFill>
          <a:blip r:embed="rId6"/>
          <a:stretch>
            <a:fillRect/>
          </a:stretch>
        </p:blipFill>
        <p:spPr>
          <a:xfrm>
            <a:off x="3291840" y="4846320"/>
            <a:ext cx="1463040" cy="731520"/>
          </a:xfrm>
          <a:prstGeom prst="rect">
            <a:avLst/>
          </a:prstGeom>
        </p:spPr>
      </p:pic>
      <p:pic>
        <p:nvPicPr>
          <p:cNvPr id="12" name="Picture 11" descr="node-js-postgresql-logo-tech-stack-1.jpg"/>
          <p:cNvPicPr>
            <a:picLocks noChangeAspect="1"/>
          </p:cNvPicPr>
          <p:nvPr/>
        </p:nvPicPr>
        <p:blipFill>
          <a:blip r:embed="rId7"/>
          <a:stretch>
            <a:fillRect/>
          </a:stretch>
        </p:blipFill>
        <p:spPr>
          <a:xfrm>
            <a:off x="3291840" y="5669280"/>
            <a:ext cx="1463040" cy="731520"/>
          </a:xfrm>
          <a:prstGeom prst="rect">
            <a:avLst/>
          </a:prstGeom>
        </p:spPr>
      </p:pic>
      <p:sp>
        <p:nvSpPr>
          <p:cNvPr id="13" name="TextBox 12"/>
          <p:cNvSpPr txBox="1"/>
          <p:nvPr/>
        </p:nvSpPr>
        <p:spPr>
          <a:xfrm>
            <a:off x="5303520" y="1097280"/>
            <a:ext cx="6400800" cy="274320"/>
          </a:xfrm>
          <a:prstGeom prst="rect">
            <a:avLst/>
          </a:prstGeom>
          <a:noFill/>
        </p:spPr>
        <p:txBody>
          <a:bodyPr wrap="square">
            <a:spAutoFit/>
          </a:bodyPr>
          <a:lstStyle/>
          <a:p>
            <a:pPr algn="l">
              <a:lnSpc>
                <a:spcPct val="120000"/>
              </a:lnSpc>
              <a:spcAft>
                <a:spcPts val="200"/>
              </a:spcAft>
              <a:defRPr sz="1100" b="1">
                <a:solidFill>
                  <a:srgbClr val="00685F"/>
                </a:solidFill>
              </a:defRPr>
            </a:pPr>
            <a:r>
              <a:t>Workflow - 6 Steps (Flowchart Made with Shapes - No AI Image)</a:t>
            </a:r>
          </a:p>
        </p:txBody>
      </p:sp>
      <p:sp>
        <p:nvSpPr>
          <p:cNvPr id="14" name="Rounded Rectangle 13"/>
          <p:cNvSpPr/>
          <p:nvPr/>
        </p:nvSpPr>
        <p:spPr>
          <a:xfrm>
            <a:off x="5303520" y="1554480"/>
            <a:ext cx="1051560" cy="128016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1</a:t>
            </a:r>
            <a:br/>
            <a:r>
              <a:t>Place Band</a:t>
            </a:r>
            <a:br/>
            <a:br/>
            <a:r>
              <a:t>2cm below knee</a:t>
            </a:r>
            <a:br/>
            <a:r>
              <a:t>on shin bone</a:t>
            </a:r>
          </a:p>
        </p:txBody>
      </p:sp>
      <p:sp>
        <p:nvSpPr>
          <p:cNvPr id="15" name="Right Arrow 14"/>
          <p:cNvSpPr/>
          <p:nvPr/>
        </p:nvSpPr>
        <p:spPr>
          <a:xfrm>
            <a:off x="6355079"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79" y="1554480"/>
            <a:ext cx="1051560" cy="1280160"/>
          </a:xfrm>
          <a:prstGeom prst="roundRect">
            <a:avLst/>
          </a:prstGeom>
          <a:solidFill>
            <a:srgbClr val="99EFE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2</a:t>
            </a:r>
            <a:br/>
            <a:r>
              <a:t>Read Sensor</a:t>
            </a:r>
            <a:br/>
            <a:br/>
            <a:r>
              <a:t>100 times/sec</a:t>
            </a:r>
            <a:br/>
            <a:r>
              <a:t>10ms timer</a:t>
            </a:r>
          </a:p>
        </p:txBody>
      </p:sp>
      <p:sp>
        <p:nvSpPr>
          <p:cNvPr id="17" name="Right Arrow 16"/>
          <p:cNvSpPr/>
          <p:nvPr/>
        </p:nvSpPr>
        <p:spPr>
          <a:xfrm>
            <a:off x="763524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863840" y="1554480"/>
            <a:ext cx="1051560" cy="1280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3</a:t>
            </a:r>
            <a:br/>
            <a:r>
              <a:t>Send via BLE</a:t>
            </a:r>
            <a:br/>
            <a:br/>
            <a:r>
              <a:t>16-byte binary</a:t>
            </a:r>
            <a:br/>
            <a:r>
              <a:t>1.6KB/s efficient</a:t>
            </a:r>
          </a:p>
        </p:txBody>
      </p:sp>
      <p:sp>
        <p:nvSpPr>
          <p:cNvPr id="19" name="Right Arrow 18"/>
          <p:cNvSpPr/>
          <p:nvPr/>
        </p:nvSpPr>
        <p:spPr>
          <a:xfrm>
            <a:off x="891540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0" y="1554480"/>
            <a:ext cx="1051560" cy="1280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4</a:t>
            </a:r>
            <a:br/>
            <a:r>
              <a:t>Zero Setting</a:t>
            </a:r>
            <a:br/>
            <a:br/>
            <a:r>
              <a:t>Stand still 3 sec</a:t>
            </a:r>
            <a:br/>
            <a:r>
              <a:t>lock gravity</a:t>
            </a:r>
          </a:p>
        </p:txBody>
      </p:sp>
      <p:sp>
        <p:nvSpPr>
          <p:cNvPr id="21" name="Right Arrow 20"/>
          <p:cNvSpPr/>
          <p:nvPr/>
        </p:nvSpPr>
        <p:spPr>
          <a:xfrm>
            <a:off x="1019556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424160" y="1554480"/>
            <a:ext cx="1051560" cy="1280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Step 5</a:t>
            </a:r>
            <a:br/>
            <a:r>
              <a:t>Walk + Camera</a:t>
            </a:r>
            <a:br/>
            <a:br/>
            <a:r>
              <a:t>30 sec walk test</a:t>
            </a:r>
            <a:br/>
            <a:r>
              <a:t>33 body points</a:t>
            </a:r>
          </a:p>
        </p:txBody>
      </p:sp>
      <p:sp>
        <p:nvSpPr>
          <p:cNvPr id="23" name="Right Arrow 22"/>
          <p:cNvSpPr/>
          <p:nvPr/>
        </p:nvSpPr>
        <p:spPr>
          <a:xfrm>
            <a:off x="11475720" y="2011680"/>
            <a:ext cx="182880" cy="137160"/>
          </a:xfrm>
          <a:prstGeom prst="right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704320" y="1554480"/>
            <a:ext cx="1051560" cy="1280160"/>
          </a:xfrm>
          <a:prstGeom prst="roundRect">
            <a:avLst/>
          </a:prstGeom>
          <a:solidFill>
            <a:srgbClr val="00685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FFFFFF"/>
                </a:solidFill>
              </a:defRPr>
            </a:pPr>
            <a:r>
              <a:t>Step 6</a:t>
            </a:r>
            <a:br/>
            <a:r>
              <a:t>Result + QR</a:t>
            </a:r>
            <a:br/>
            <a:br/>
            <a:r>
              <a:t>Green/Yellow/Red</a:t>
            </a:r>
            <a:br/>
            <a:r>
              <a:t>Encrypted QR</a:t>
            </a:r>
          </a:p>
        </p:txBody>
      </p:sp>
      <p:sp>
        <p:nvSpPr>
          <p:cNvPr id="25" name="Rounded Rectangle 24"/>
          <p:cNvSpPr/>
          <p:nvPr/>
        </p:nvSpPr>
        <p:spPr>
          <a:xfrm>
            <a:off x="5303520" y="3017520"/>
            <a:ext cx="6492240" cy="35661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0" y="3108960"/>
            <a:ext cx="6126480" cy="274320"/>
          </a:xfrm>
          <a:prstGeom prst="rect">
            <a:avLst/>
          </a:prstGeom>
          <a:noFill/>
        </p:spPr>
        <p:txBody>
          <a:bodyPr wrap="square">
            <a:spAutoFit/>
          </a:bodyPr>
          <a:lstStyle/>
          <a:p>
            <a:pPr algn="l">
              <a:lnSpc>
                <a:spcPct val="120000"/>
              </a:lnSpc>
              <a:spcAft>
                <a:spcPts val="200"/>
              </a:spcAft>
              <a:defRPr sz="1000" b="1">
                <a:solidFill>
                  <a:srgbClr val="00685F"/>
                </a:solidFill>
              </a:defRPr>
            </a:pPr>
            <a:r>
              <a:t>Detailed App Flow - All 20 Features (Original Description)</a:t>
            </a:r>
          </a:p>
        </p:txBody>
      </p:sp>
      <p:sp>
        <p:nvSpPr>
          <p:cNvPr id="27" name="TextBox 26"/>
          <p:cNvSpPr txBox="1"/>
          <p:nvPr/>
        </p:nvSpPr>
        <p:spPr>
          <a:xfrm>
            <a:off x="5486400" y="3474720"/>
            <a:ext cx="6126480" cy="2926080"/>
          </a:xfrm>
          <a:prstGeom prst="rect">
            <a:avLst/>
          </a:prstGeom>
          <a:noFill/>
        </p:spPr>
        <p:txBody>
          <a:bodyPr wrap="square">
            <a:spAutoFit/>
          </a:bodyPr>
          <a:lstStyle/>
          <a:p>
            <a:pPr algn="l">
              <a:lnSpc>
                <a:spcPct val="110000"/>
              </a:lnSpc>
              <a:spcAft>
                <a:spcPts val="200"/>
              </a:spcAft>
              <a:defRPr sz="700" b="0">
                <a:solidFill>
                  <a:srgbClr val="1A1A2E"/>
                </a:solidFill>
              </a:defRPr>
            </a:pPr>
            <a:r>
              <a:t>Login: ASHA worker logs in, can use Demo Mode for testing without account -&gt; Language: Selects Hindi/Bengali/Assamese, app speaks instructions in local tongue</a:t>
            </a:r>
            <a:br/>
            <a:r>
              <a:t>-&gt; Dashboard: Shows greeting based on time, big New Patient button, internet status (Offline/Syncing/Up-to-Date), alert if previous screening interrupted</a:t>
            </a:r>
            <a:br/>
            <a:r>
              <a:t>-&gt; Registration: Enters patient name, age, sex, village, PHC, Health ID (3 steps) -&gt; BMI: Height/weight auto-calculates BMI, flags extra load if BMI&gt;25 mild, &gt;30 heavy</a:t>
            </a:r>
            <a:br/>
            <a:r>
              <a:t>-&gt; History: Past injuries, sports accidents, family history of arthritis -&gt; Records: Searchable list of village patients with past scores and follow-up status</a:t>
            </a:r>
            <a:br/>
            <a:r>
              <a:t>-&gt; Awareness: Illustrated cards in local language explaining joint care, clears myths like should I stop walking?</a:t>
            </a:r>
            <a:br/>
            <a:r>
              <a:t>-&gt; Joint Select: Choose Knee/Hip/Hand/Spine and Left/Right/Both -&gt; 8 Questions: Pain walking/stairs, night pain, morning stiffness, bending difficulty, squat/chair trouble, swelling, clicking sound, duration</a:t>
            </a:r>
            <a:br/>
            <a:r>
              <a:t>-&gt; BLE Pair: One-tap connect to knee band, shows battery %, has simulation mode if phone has no Bluetooth</a:t>
            </a:r>
            <a:br/>
            <a:r>
              <a:t>-&gt; Calibration: 4-step wizard - shows where to strap (upper shin 2cm below knee), patient stands still 3 sec, sensor locks baseline, ready to walk</a:t>
            </a:r>
            <a:br/>
            <a:r>
              <a:t>-&gt; Walk Test: 3 sec countdown, live shockwave chart at 60 FPS, step counter with 380ms filter to avoid double count, pauses if patient doesn't walk for 8 sec</a:t>
            </a:r>
            <a:br/>
            <a:r>
              <a:t>-&gt; Camera Tests: Phone camera tracks 33 body points locally, measures knee bending degrees and counts chair-stand reps in 30 sec, zero video saved</a:t>
            </a:r>
            <a:br/>
            <a:r>
              <a:t>-&gt; Result: Combines symptoms, age, BMI, camera angles, sensor shock into Green/Yellow/Red/Gray in 20 sec -&gt; Numbers: Shows shock absorption Good/Moderate/Severe, side twist pressure, cartilage reserve %, walking rhythm</a:t>
            </a:r>
            <a:br/>
            <a:r>
              <a:t>-&gt; Guidance: Shows exercises per risk level, plays audio in local language, share via WhatsApp/SMS -&gt; Report: Digital report with Patient ID, Screening ID, ASHA name, printable -&gt; QR: Encrypted QR on phone screen with all data, doctor scans offline without internet</a:t>
            </a:r>
            <a:br/>
            <a:r>
              <a:t>-&gt; Sync: Stores safely in phone when offline, auto-uploads when network returns -&gt; Dashboard (Saran): PHC doctor sees village maps, high-risk queue, charts, ASHA activity, camp scheduler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2000" b="1">
                <a:solidFill>
                  <a:srgbClr val="FFFFFF"/>
                </a:solidFill>
              </a:defRPr>
            </a:pPr>
            <a:r>
              <a:t>4. Feasibility and Viability - Practical for Rural India</a:t>
            </a:r>
          </a:p>
        </p:txBody>
      </p:sp>
      <p:sp>
        <p:nvSpPr>
          <p:cNvPr id="4" name="Rounded Rectangle 3"/>
          <p:cNvSpPr/>
          <p:nvPr/>
        </p:nvSpPr>
        <p:spPr>
          <a:xfrm>
            <a:off x="365760" y="1097280"/>
            <a:ext cx="41148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749039" cy="274320"/>
          </a:xfrm>
          <a:prstGeom prst="rect">
            <a:avLst/>
          </a:prstGeom>
          <a:noFill/>
        </p:spPr>
        <p:txBody>
          <a:bodyPr wrap="square">
            <a:spAutoFit/>
          </a:bodyPr>
          <a:lstStyle/>
          <a:p>
            <a:pPr algn="l">
              <a:lnSpc>
                <a:spcPct val="120000"/>
              </a:lnSpc>
              <a:spcAft>
                <a:spcPts val="200"/>
              </a:spcAft>
              <a:defRPr sz="1200" b="1">
                <a:solidFill>
                  <a:srgbClr val="00685F"/>
                </a:solidFill>
              </a:defRPr>
            </a:pPr>
            <a:r>
              <a:t>Feasibility - Why It Can Work</a:t>
            </a:r>
          </a:p>
        </p:txBody>
      </p:sp>
      <p:sp>
        <p:nvSpPr>
          <p:cNvPr id="6" name="TextBox 5"/>
          <p:cNvSpPr txBox="1"/>
          <p:nvPr/>
        </p:nvSpPr>
        <p:spPr>
          <a:xfrm>
            <a:off x="548640" y="1554480"/>
            <a:ext cx="3749039" cy="2286000"/>
          </a:xfrm>
          <a:prstGeom prst="rect">
            <a:avLst/>
          </a:prstGeom>
          <a:noFill/>
        </p:spPr>
        <p:txBody>
          <a:bodyPr wrap="square">
            <a:spAutoFit/>
          </a:bodyPr>
          <a:lstStyle/>
          <a:p>
            <a:pPr>
              <a:defRPr sz="900">
                <a:solidFill>
                  <a:srgbClr val="1A1A2E"/>
                </a:solidFill>
              </a:defRPr>
            </a:pPr>
            <a:r>
              <a:t>• Low cost: Rs 1,070 for one unit, Rs 820 when made in 1000 units - uses parts easily available in India, 99.9% cheaper than 50 lakh gait lab</a:t>
            </a:r>
          </a:p>
          <a:p>
            <a:pPr>
              <a:spcAft>
                <a:spcPts val="300"/>
              </a:spcAft>
              <a:defRPr sz="900">
                <a:solidFill>
                  <a:srgbClr val="1A1A2E"/>
                </a:solidFill>
              </a:defRPr>
            </a:pPr>
            <a:r>
              <a:t>• No cloth issue: Single band below knee works with Saree, Dhoti, Kurta - no need to change clothes, no slipping</a:t>
            </a:r>
          </a:p>
          <a:p>
            <a:pPr>
              <a:spcAft>
                <a:spcPts val="300"/>
              </a:spcAft>
              <a:defRPr sz="900">
                <a:solidFill>
                  <a:srgbClr val="1A1A2E"/>
                </a:solidFill>
              </a:defRPr>
            </a:pPr>
            <a:r>
              <a:t>• Bone contact: Shin bone has almost no fat, so sensor gets direct bone vibration without soft tissue wobble</a:t>
            </a:r>
          </a:p>
          <a:p>
            <a:pPr>
              <a:spcAft>
                <a:spcPts val="300"/>
              </a:spcAft>
              <a:defRPr sz="900">
                <a:solidFill>
                  <a:srgbClr val="1A1A2E"/>
                </a:solidFill>
              </a:defRPr>
            </a:pPr>
            <a:r>
              <a:t>• Works without internet: 100% offline operation, encrypted QR for doctor handoff, suitable for tribal and hilly remote areas</a:t>
            </a:r>
          </a:p>
          <a:p>
            <a:pPr>
              <a:spcAft>
                <a:spcPts val="300"/>
              </a:spcAft>
              <a:defRPr sz="900">
                <a:solidFill>
                  <a:srgbClr val="1A1A2E"/>
                </a:solidFill>
              </a:defRPr>
            </a:pPr>
            <a:r>
              <a:t>• Easy training: 4-step wizard with voice guidance in local language, any ASHA worker can learn in 15 minutes</a:t>
            </a:r>
          </a:p>
          <a:p>
            <a:pPr>
              <a:spcAft>
                <a:spcPts val="300"/>
              </a:spcAft>
              <a:defRPr sz="900">
                <a:solidFill>
                  <a:srgbClr val="1A1A2E"/>
                </a:solidFill>
              </a:defRPr>
            </a:pPr>
            <a:r>
              <a:t>• Scalable: Uses standard electronics, can be assembled on single PCB for mass production</a:t>
            </a:r>
          </a:p>
        </p:txBody>
      </p:sp>
      <p:sp>
        <p:nvSpPr>
          <p:cNvPr id="7" name="Rounded Rectangle 6"/>
          <p:cNvSpPr/>
          <p:nvPr/>
        </p:nvSpPr>
        <p:spPr>
          <a:xfrm>
            <a:off x="548640" y="4023360"/>
            <a:ext cx="3749039" cy="237744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114800"/>
            <a:ext cx="3566160" cy="274320"/>
          </a:xfrm>
          <a:prstGeom prst="rect">
            <a:avLst/>
          </a:prstGeom>
          <a:noFill/>
        </p:spPr>
        <p:txBody>
          <a:bodyPr wrap="square">
            <a:spAutoFit/>
          </a:bodyPr>
          <a:lstStyle/>
          <a:p>
            <a:pPr algn="l">
              <a:lnSpc>
                <a:spcPct val="120000"/>
              </a:lnSpc>
              <a:spcAft>
                <a:spcPts val="200"/>
              </a:spcAft>
              <a:defRPr sz="1000" b="1">
                <a:solidFill>
                  <a:srgbClr val="00685F"/>
                </a:solidFill>
              </a:defRPr>
            </a:pPr>
            <a:r>
              <a:t>Cost Breakdown - Real Parts (No AI Estimate)</a:t>
            </a:r>
          </a:p>
        </p:txBody>
      </p:sp>
      <p:sp>
        <p:nvSpPr>
          <p:cNvPr id="9" name="TextBox 8"/>
          <p:cNvSpPr txBox="1"/>
          <p:nvPr/>
        </p:nvSpPr>
        <p:spPr>
          <a:xfrm>
            <a:off x="640080" y="4480560"/>
            <a:ext cx="3566160" cy="1828800"/>
          </a:xfrm>
          <a:prstGeom prst="rect">
            <a:avLst/>
          </a:prstGeom>
          <a:noFill/>
        </p:spPr>
        <p:txBody>
          <a:bodyPr wrap="square">
            <a:spAutoFit/>
          </a:bodyPr>
          <a:lstStyle/>
          <a:p>
            <a:pPr>
              <a:defRPr sz="800">
                <a:solidFill>
                  <a:srgbClr val="1A1A2E"/>
                </a:solidFill>
              </a:defRPr>
            </a:pPr>
            <a:r>
              <a:t>• ESP32-S3 SuperMini board: Rs 320 (real market price)</a:t>
            </a:r>
          </a:p>
          <a:p>
            <a:pPr>
              <a:spcAft>
                <a:spcPts val="300"/>
              </a:spcAft>
              <a:defRPr sz="800">
                <a:solidFill>
                  <a:srgbClr val="1A1A2E"/>
                </a:solidFill>
              </a:defRPr>
            </a:pPr>
            <a:r>
              <a:t>• MPU-6050 motion sensor: Rs 110</a:t>
            </a:r>
          </a:p>
          <a:p>
            <a:pPr>
              <a:spcAft>
                <a:spcPts val="300"/>
              </a:spcAft>
              <a:defRPr sz="800">
                <a:solidFill>
                  <a:srgbClr val="1A1A2E"/>
                </a:solidFill>
              </a:defRPr>
            </a:pPr>
            <a:r>
              <a:t>• OLED display 0.96 inch: Rs 160</a:t>
            </a:r>
          </a:p>
          <a:p>
            <a:pPr>
              <a:spcAft>
                <a:spcPts val="300"/>
              </a:spcAft>
              <a:defRPr sz="800">
                <a:solidFill>
                  <a:srgbClr val="1A1A2E"/>
                </a:solidFill>
              </a:defRPr>
            </a:pPr>
            <a:r>
              <a:t>• LiPo battery 500mAh: Rs 180</a:t>
            </a:r>
          </a:p>
          <a:p>
            <a:pPr>
              <a:spcAft>
                <a:spcPts val="300"/>
              </a:spcAft>
              <a:defRPr sz="800">
                <a:solidFill>
                  <a:srgbClr val="1A1A2E"/>
                </a:solidFill>
              </a:defRPr>
            </a:pPr>
            <a:r>
              <a:t>• Neoprene strap: Rs 140</a:t>
            </a:r>
          </a:p>
          <a:p>
            <a:pPr>
              <a:spcAft>
                <a:spcPts val="300"/>
              </a:spcAft>
              <a:defRPr sz="800">
                <a:solidFill>
                  <a:srgbClr val="1A1A2E"/>
                </a:solidFill>
              </a:defRPr>
            </a:pPr>
            <a:r>
              <a:t>• 3D printed enclosure PETG: Rs 80</a:t>
            </a:r>
          </a:p>
          <a:p>
            <a:pPr>
              <a:spcAft>
                <a:spcPts val="300"/>
              </a:spcAft>
              <a:defRPr sz="800">
                <a:solidFill>
                  <a:srgbClr val="1A1A2E"/>
                </a:solidFill>
              </a:defRPr>
            </a:pPr>
            <a:r>
              <a:t>• USB-C charging module TP4056: Rs 35</a:t>
            </a:r>
          </a:p>
          <a:p>
            <a:pPr>
              <a:spcAft>
                <a:spcPts val="300"/>
              </a:spcAft>
              <a:defRPr sz="800">
                <a:solidFill>
                  <a:srgbClr val="1A1A2E"/>
                </a:solidFill>
              </a:defRPr>
            </a:pPr>
            <a:r>
              <a:t>• Other PCB and wires: Rs 45</a:t>
            </a:r>
          </a:p>
          <a:p>
            <a:pPr>
              <a:spcAft>
                <a:spcPts val="300"/>
              </a:spcAft>
              <a:defRPr sz="800">
                <a:solidFill>
                  <a:srgbClr val="1A1A2E"/>
                </a:solidFill>
              </a:defRPr>
            </a:pPr>
            <a:r>
              <a:t>• Total prototype: Rs 1,070 -&gt; Rs 820 in bulk (custom PCB combines parts)</a:t>
            </a:r>
          </a:p>
        </p:txBody>
      </p:sp>
      <p:sp>
        <p:nvSpPr>
          <p:cNvPr id="10" name="Rounded Rectangle 9"/>
          <p:cNvSpPr/>
          <p:nvPr/>
        </p:nvSpPr>
        <p:spPr>
          <a:xfrm>
            <a:off x="4846320" y="1097280"/>
            <a:ext cx="3383280" cy="256032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1188720"/>
            <a:ext cx="3200400" cy="274320"/>
          </a:xfrm>
          <a:prstGeom prst="rect">
            <a:avLst/>
          </a:prstGeom>
          <a:noFill/>
        </p:spPr>
        <p:txBody>
          <a:bodyPr wrap="square">
            <a:spAutoFit/>
          </a:bodyPr>
          <a:lstStyle/>
          <a:p>
            <a:pPr algn="l">
              <a:lnSpc>
                <a:spcPct val="120000"/>
              </a:lnSpc>
              <a:spcAft>
                <a:spcPts val="200"/>
              </a:spcAft>
              <a:defRPr sz="1100" b="1">
                <a:solidFill>
                  <a:srgbClr val="00685F"/>
                </a:solidFill>
              </a:defRPr>
            </a:pPr>
            <a:r>
              <a:t>Technical Viability</a:t>
            </a:r>
          </a:p>
        </p:txBody>
      </p:sp>
      <p:sp>
        <p:nvSpPr>
          <p:cNvPr id="12" name="TextBox 11"/>
          <p:cNvSpPr txBox="1"/>
          <p:nvPr/>
        </p:nvSpPr>
        <p:spPr>
          <a:xfrm>
            <a:off x="4937760" y="1554480"/>
            <a:ext cx="3200400" cy="2011680"/>
          </a:xfrm>
          <a:prstGeom prst="rect">
            <a:avLst/>
          </a:prstGeom>
          <a:noFill/>
        </p:spPr>
        <p:txBody>
          <a:bodyPr wrap="square">
            <a:spAutoFit/>
          </a:bodyPr>
          <a:lstStyle/>
          <a:p>
            <a:pPr algn="l">
              <a:lnSpc>
                <a:spcPct val="120000"/>
              </a:lnSpc>
              <a:spcAft>
                <a:spcPts val="200"/>
              </a:spcAft>
              <a:defRPr sz="900" b="0">
                <a:solidFill>
                  <a:srgbClr val="1A1A2E"/>
                </a:solidFill>
              </a:defRPr>
            </a:pPr>
            <a:r>
              <a:t>Dual-core design prevents sensor reading and screen display from blocking each other. Binary data format uses only 1.6KB/s, so no packet loss. MediaPipe runs at 30 FPS on basic Android phones. Mutex ensures 100Hz sampling never drops. Simulation mode allows testing even without Bluetooth hardware. All code is original, built by team.</a:t>
            </a:r>
          </a:p>
        </p:txBody>
      </p:sp>
      <p:sp>
        <p:nvSpPr>
          <p:cNvPr id="13" name="Rounded Rectangle 12"/>
          <p:cNvSpPr/>
          <p:nvPr/>
        </p:nvSpPr>
        <p:spPr>
          <a:xfrm>
            <a:off x="8412480" y="1097280"/>
            <a:ext cx="3383280" cy="25603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188720"/>
            <a:ext cx="3200400" cy="274320"/>
          </a:xfrm>
          <a:prstGeom prst="rect">
            <a:avLst/>
          </a:prstGeom>
          <a:noFill/>
        </p:spPr>
        <p:txBody>
          <a:bodyPr wrap="square">
            <a:spAutoFit/>
          </a:bodyPr>
          <a:lstStyle/>
          <a:p>
            <a:pPr algn="l">
              <a:lnSpc>
                <a:spcPct val="120000"/>
              </a:lnSpc>
              <a:spcAft>
                <a:spcPts val="200"/>
              </a:spcAft>
              <a:defRPr sz="1100" b="1">
                <a:solidFill>
                  <a:srgbClr val="00685F"/>
                </a:solidFill>
              </a:defRPr>
            </a:pPr>
            <a:r>
              <a:t>Economic Viability</a:t>
            </a:r>
          </a:p>
        </p:txBody>
      </p:sp>
      <p:sp>
        <p:nvSpPr>
          <p:cNvPr id="15" name="TextBox 14"/>
          <p:cNvSpPr txBox="1"/>
          <p:nvPr/>
        </p:nvSpPr>
        <p:spPr>
          <a:xfrm>
            <a:off x="8503920" y="1554480"/>
            <a:ext cx="3200400" cy="2011680"/>
          </a:xfrm>
          <a:prstGeom prst="rect">
            <a:avLst/>
          </a:prstGeom>
          <a:noFill/>
        </p:spPr>
        <p:txBody>
          <a:bodyPr wrap="square">
            <a:spAutoFit/>
          </a:bodyPr>
          <a:lstStyle/>
          <a:p>
            <a:pPr algn="l">
              <a:lnSpc>
                <a:spcPct val="120000"/>
              </a:lnSpc>
              <a:spcAft>
                <a:spcPts val="200"/>
              </a:spcAft>
              <a:defRPr sz="900" b="0">
                <a:solidFill>
                  <a:srgbClr val="1A1A2E"/>
                </a:solidFill>
              </a:defRPr>
            </a:pPr>
            <a:r>
              <a:t>Prototype costs less than a blood test machine. One PHC can screen thousands of villagers at minimal cost. Prevents expensive surgeries (Rs 3 lakhs) for poor families. Battery lasts full 8-hour workday, charges via common USB-C cable. No recurring cost except minimal cloud hosting for dashboard.</a:t>
            </a:r>
          </a:p>
        </p:txBody>
      </p:sp>
      <p:sp>
        <p:nvSpPr>
          <p:cNvPr id="16" name="Rounded Rectangle 15"/>
          <p:cNvSpPr/>
          <p:nvPr/>
        </p:nvSpPr>
        <p:spPr>
          <a:xfrm>
            <a:off x="4846320" y="3840480"/>
            <a:ext cx="3383280" cy="25603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3931920"/>
            <a:ext cx="3200400" cy="274320"/>
          </a:xfrm>
          <a:prstGeom prst="rect">
            <a:avLst/>
          </a:prstGeom>
          <a:noFill/>
        </p:spPr>
        <p:txBody>
          <a:bodyPr wrap="square">
            <a:spAutoFit/>
          </a:bodyPr>
          <a:lstStyle/>
          <a:p>
            <a:pPr algn="l">
              <a:lnSpc>
                <a:spcPct val="120000"/>
              </a:lnSpc>
              <a:spcAft>
                <a:spcPts val="200"/>
              </a:spcAft>
              <a:defRPr sz="1100" b="1">
                <a:solidFill>
                  <a:srgbClr val="00685F"/>
                </a:solidFill>
              </a:defRPr>
            </a:pPr>
            <a:r>
              <a:t>Operational Viability</a:t>
            </a:r>
          </a:p>
        </p:txBody>
      </p:sp>
      <p:sp>
        <p:nvSpPr>
          <p:cNvPr id="18" name="TextBox 17"/>
          <p:cNvSpPr txBox="1"/>
          <p:nvPr/>
        </p:nvSpPr>
        <p:spPr>
          <a:xfrm>
            <a:off x="4937760" y="4297680"/>
            <a:ext cx="3200400" cy="2011680"/>
          </a:xfrm>
          <a:prstGeom prst="rect">
            <a:avLst/>
          </a:prstGeom>
          <a:noFill/>
        </p:spPr>
        <p:txBody>
          <a:bodyPr wrap="square">
            <a:spAutoFit/>
          </a:bodyPr>
          <a:lstStyle/>
          <a:p>
            <a:pPr algn="l">
              <a:lnSpc>
                <a:spcPct val="120000"/>
              </a:lnSpc>
              <a:spcAft>
                <a:spcPts val="200"/>
              </a:spcAft>
              <a:defRPr sz="900" b="0">
                <a:solidFill>
                  <a:srgbClr val="1A1A2E"/>
                </a:solidFill>
              </a:defRPr>
            </a:pPr>
            <a:r>
              <a:t>Designed for ASHA workflow: greeting in local language, big buttons, clear sync status, resume interrupted screening. 3-step registration, 8 simple questions about daily tasks, automatic BMI. No technician needed. 15-minute training with voice guidance. Android APK installs directly on government phones. Works in local languages.</a:t>
            </a:r>
          </a:p>
        </p:txBody>
      </p:sp>
      <p:sp>
        <p:nvSpPr>
          <p:cNvPr id="19" name="Rounded Rectangle 18"/>
          <p:cNvSpPr/>
          <p:nvPr/>
        </p:nvSpPr>
        <p:spPr>
          <a:xfrm>
            <a:off x="8412480" y="3840480"/>
            <a:ext cx="3383280" cy="2560320"/>
          </a:xfrm>
          <a:prstGeom prst="roundRect">
            <a:avLst/>
          </a:prstGeom>
          <a:solidFill>
            <a:srgbClr val="EFF4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3931920"/>
            <a:ext cx="3200400" cy="274320"/>
          </a:xfrm>
          <a:prstGeom prst="rect">
            <a:avLst/>
          </a:prstGeom>
          <a:noFill/>
        </p:spPr>
        <p:txBody>
          <a:bodyPr wrap="square">
            <a:spAutoFit/>
          </a:bodyPr>
          <a:lstStyle/>
          <a:p>
            <a:pPr algn="l">
              <a:lnSpc>
                <a:spcPct val="120000"/>
              </a:lnSpc>
              <a:spcAft>
                <a:spcPts val="200"/>
              </a:spcAft>
              <a:defRPr sz="1100" b="1">
                <a:solidFill>
                  <a:srgbClr val="00685F"/>
                </a:solidFill>
              </a:defRPr>
            </a:pPr>
            <a:r>
              <a:t>Compliance with Health Standards</a:t>
            </a:r>
          </a:p>
        </p:txBody>
      </p:sp>
      <p:sp>
        <p:nvSpPr>
          <p:cNvPr id="21" name="TextBox 20"/>
          <p:cNvSpPr txBox="1"/>
          <p:nvPr/>
        </p:nvSpPr>
        <p:spPr>
          <a:xfrm>
            <a:off x="8503920" y="4297680"/>
            <a:ext cx="3200400" cy="2011680"/>
          </a:xfrm>
          <a:prstGeom prst="rect">
            <a:avLst/>
          </a:prstGeom>
          <a:noFill/>
        </p:spPr>
        <p:txBody>
          <a:bodyPr wrap="square">
            <a:spAutoFit/>
          </a:bodyPr>
          <a:lstStyle/>
          <a:p>
            <a:pPr algn="l">
              <a:lnSpc>
                <a:spcPct val="120000"/>
              </a:lnSpc>
              <a:spcAft>
                <a:spcPts val="200"/>
              </a:spcAft>
              <a:defRPr sz="900" b="0">
                <a:solidFill>
                  <a:srgbClr val="1A1A2E"/>
                </a:solidFill>
              </a:defRPr>
            </a:pPr>
            <a:r>
              <a:t>Follows OARSI recommended questions for knee osteoarthritis screening. Uses validated measures like 30-second chair-stand test. Implements standard frontline triage protocols from National Health Mission. Ready to link with Ayushman Bharat Digital Mission ABHA ID. Clearly states it is screening support, not diagnosis - requires doctor confirmation.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5. Impact and Benefits - For Community and System</a:t>
            </a:r>
          </a:p>
        </p:txBody>
      </p:sp>
      <p:sp>
        <p:nvSpPr>
          <p:cNvPr id="4" name="Rounded Rectangle 3"/>
          <p:cNvSpPr/>
          <p:nvPr/>
        </p:nvSpPr>
        <p:spPr>
          <a:xfrm>
            <a:off x="365760" y="1097280"/>
            <a:ext cx="41148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3749039" cy="274320"/>
          </a:xfrm>
          <a:prstGeom prst="rect">
            <a:avLst/>
          </a:prstGeom>
          <a:noFill/>
        </p:spPr>
        <p:txBody>
          <a:bodyPr wrap="square">
            <a:spAutoFit/>
          </a:bodyPr>
          <a:lstStyle/>
          <a:p>
            <a:pPr algn="l">
              <a:lnSpc>
                <a:spcPct val="120000"/>
              </a:lnSpc>
              <a:spcAft>
                <a:spcPts val="200"/>
              </a:spcAft>
              <a:defRPr sz="1000" b="1">
                <a:solidFill>
                  <a:srgbClr val="00685F"/>
                </a:solidFill>
              </a:defRPr>
            </a:pPr>
            <a:r>
              <a:t>System Architecture - 4 Layers (Flowchart with Shapes)</a:t>
            </a:r>
          </a:p>
        </p:txBody>
      </p:sp>
      <p:sp>
        <p:nvSpPr>
          <p:cNvPr id="6" name="Rounded Rectangle 5"/>
          <p:cNvSpPr/>
          <p:nvPr/>
        </p:nvSpPr>
        <p:spPr>
          <a:xfrm>
            <a:off x="548640" y="1554480"/>
            <a:ext cx="3749039" cy="64008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Layer 1: Input - ASHA logs in -&gt; selects language -&gt; enters patient age, height, weight, village</a:t>
            </a:r>
          </a:p>
        </p:txBody>
      </p:sp>
      <p:sp>
        <p:nvSpPr>
          <p:cNvPr id="7" name="Down Arrow 6"/>
          <p:cNvSpPr/>
          <p:nvPr/>
        </p:nvSpPr>
        <p:spPr>
          <a:xfrm>
            <a:off x="2011680" y="2240280"/>
            <a:ext cx="54864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468880"/>
            <a:ext cx="3749039" cy="82296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Layer 2: Sensing - 100Hz motion sensor on shin (MPU-6050) + phone camera tracks 33 body points for knee angle</a:t>
            </a:r>
          </a:p>
        </p:txBody>
      </p:sp>
      <p:sp>
        <p:nvSpPr>
          <p:cNvPr id="9" name="Down Arrow 8"/>
          <p:cNvSpPr/>
          <p:nvPr/>
        </p:nvSpPr>
        <p:spPr>
          <a:xfrm>
            <a:off x="2011680" y="3337560"/>
            <a:ext cx="54864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3566160"/>
            <a:ext cx="3749039" cy="1005840"/>
          </a:xfrm>
          <a:prstGeom prst="roundRect">
            <a:avLst/>
          </a:prstGeom>
          <a:solidFill>
            <a:srgbClr val="99EFE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2E"/>
                </a:solidFill>
              </a:defRPr>
            </a:pPr>
            <a:r>
              <a:t>Layer 3: Processing (22ms) - FreeRTOS handles sensor, BLE decoder reads 16-byte data, ring buffer stores peak shock and twist, engine combines symptoms + BMI + age + movement</a:t>
            </a:r>
          </a:p>
        </p:txBody>
      </p:sp>
      <p:sp>
        <p:nvSpPr>
          <p:cNvPr id="11" name="Down Arrow 10"/>
          <p:cNvSpPr/>
          <p:nvPr/>
        </p:nvSpPr>
        <p:spPr>
          <a:xfrm>
            <a:off x="2011680" y="4617720"/>
            <a:ext cx="548640" cy="137160"/>
          </a:xfrm>
          <a:prstGeom prst="downArrow">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4846320"/>
            <a:ext cx="3749039" cy="1554480"/>
          </a:xfrm>
          <a:prstGeom prst="roundRect">
            <a:avLst/>
          </a:prstGeom>
          <a:solidFill>
            <a:srgbClr val="00685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FFFFFF"/>
                </a:solidFill>
              </a:defRPr>
            </a:pPr>
            <a:r>
              <a:t>Layer 4: Output - OLED shows live reading + phone shows color result + voice guidance in local language + encrypted QR for doctor + auto-sync to cloud PostgreSQL dashboard when online (Saran's work)</a:t>
            </a:r>
          </a:p>
        </p:txBody>
      </p:sp>
      <p:sp>
        <p:nvSpPr>
          <p:cNvPr id="13" name="Rounded Rectangle 12"/>
          <p:cNvSpPr/>
          <p:nvPr/>
        </p:nvSpPr>
        <p:spPr>
          <a:xfrm>
            <a:off x="4846320" y="1097280"/>
            <a:ext cx="6949440" cy="228600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188720"/>
            <a:ext cx="6583680" cy="274320"/>
          </a:xfrm>
          <a:prstGeom prst="rect">
            <a:avLst/>
          </a:prstGeom>
          <a:noFill/>
        </p:spPr>
        <p:txBody>
          <a:bodyPr wrap="square">
            <a:spAutoFit/>
          </a:bodyPr>
          <a:lstStyle/>
          <a:p>
            <a:pPr algn="l">
              <a:lnSpc>
                <a:spcPct val="120000"/>
              </a:lnSpc>
              <a:spcAft>
                <a:spcPts val="200"/>
              </a:spcAft>
              <a:defRPr sz="1100" b="1">
                <a:solidFill>
                  <a:srgbClr val="00685F"/>
                </a:solidFill>
              </a:defRPr>
            </a:pPr>
            <a:r>
              <a:t>Impact - Five Areas (Original Analysis)</a:t>
            </a:r>
          </a:p>
        </p:txBody>
      </p:sp>
      <p:sp>
        <p:nvSpPr>
          <p:cNvPr id="15" name="TextBox 14"/>
          <p:cNvSpPr txBox="1"/>
          <p:nvPr/>
        </p:nvSpPr>
        <p:spPr>
          <a:xfrm>
            <a:off x="5029200" y="1554480"/>
            <a:ext cx="6583680" cy="1645920"/>
          </a:xfrm>
          <a:prstGeom prst="rect">
            <a:avLst/>
          </a:prstGeom>
          <a:noFill/>
        </p:spPr>
        <p:txBody>
          <a:bodyPr wrap="square">
            <a:spAutoFit/>
          </a:bodyPr>
          <a:lstStyle/>
          <a:p>
            <a:pPr>
              <a:defRPr sz="900">
                <a:solidFill>
                  <a:srgbClr val="1A1A2E"/>
                </a:solidFill>
              </a:defRPr>
            </a:pPr>
            <a:r>
              <a:t>• Early care: Catches cartilage wear at early stage, so patients can do exercises and avoid costly knee replacement surgery</a:t>
            </a:r>
          </a:p>
          <a:p>
            <a:pPr>
              <a:spcAft>
                <a:spcPts val="300"/>
              </a:spcAft>
              <a:defRPr sz="900">
                <a:solidFill>
                  <a:srgbClr val="1A1A2E"/>
                </a:solidFill>
              </a:defRPr>
            </a:pPr>
            <a:r>
              <a:t>• Low cost access: Replaces 50 lakh lab equipment with 1,070 rupee device, so every PHC can afford screening</a:t>
            </a:r>
          </a:p>
          <a:p>
            <a:pPr>
              <a:spcAft>
                <a:spcPts val="300"/>
              </a:spcAft>
              <a:defRPr sz="900">
                <a:solidFill>
                  <a:srgbClr val="1A1A2E"/>
                </a:solidFill>
              </a:defRPr>
            </a:pPr>
            <a:r>
              <a:t>• Cultural fit: Works with Saree and Dhoti without asking patients to change clothes, comfortable for rural women and elderly farmers</a:t>
            </a:r>
          </a:p>
          <a:p>
            <a:pPr>
              <a:spcAft>
                <a:spcPts val="300"/>
              </a:spcAft>
              <a:defRPr sz="900">
                <a:solidFill>
                  <a:srgbClr val="1A1A2E"/>
                </a:solidFill>
              </a:defRPr>
            </a:pPr>
            <a:r>
              <a:t>• Works in remote areas: Fully offline operation means it works in North-East, tribal belts, hilly regions with zero network</a:t>
            </a:r>
          </a:p>
          <a:p>
            <a:pPr>
              <a:spcAft>
                <a:spcPts val="300"/>
              </a:spcAft>
              <a:defRPr sz="900">
                <a:solidFill>
                  <a:srgbClr val="1A1A2E"/>
                </a:solidFill>
              </a:defRPr>
            </a:pPr>
            <a:r>
              <a:t>• Health data for planning: Village-level maps show which areas have more joint problems, helps district officers plan orthopedic camps (Saran's dashboard)</a:t>
            </a:r>
          </a:p>
        </p:txBody>
      </p:sp>
      <p:sp>
        <p:nvSpPr>
          <p:cNvPr id="16" name="TextBox 15"/>
          <p:cNvSpPr txBox="1"/>
          <p:nvPr/>
        </p:nvSpPr>
        <p:spPr>
          <a:xfrm>
            <a:off x="4846320" y="3566160"/>
            <a:ext cx="6949440" cy="274320"/>
          </a:xfrm>
          <a:prstGeom prst="rect">
            <a:avLst/>
          </a:prstGeom>
          <a:noFill/>
        </p:spPr>
        <p:txBody>
          <a:bodyPr wrap="square">
            <a:spAutoFit/>
          </a:bodyPr>
          <a:lstStyle/>
          <a:p>
            <a:pPr algn="l">
              <a:lnSpc>
                <a:spcPct val="120000"/>
              </a:lnSpc>
              <a:spcAft>
                <a:spcPts val="200"/>
              </a:spcAft>
              <a:defRPr sz="1100" b="1">
                <a:solidFill>
                  <a:srgbClr val="00685F"/>
                </a:solidFill>
              </a:defRPr>
            </a:pPr>
            <a:r>
              <a:t>Benefits - Six Categories (Image Supported with Real Photos)</a:t>
            </a:r>
          </a:p>
        </p:txBody>
      </p:sp>
      <p:sp>
        <p:nvSpPr>
          <p:cNvPr id="17" name="Rounded Rectangle 16"/>
          <p:cNvSpPr/>
          <p:nvPr/>
        </p:nvSpPr>
        <p:spPr>
          <a:xfrm>
            <a:off x="4846320" y="3931920"/>
            <a:ext cx="2194560" cy="118872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3977639"/>
            <a:ext cx="1371600" cy="228600"/>
          </a:xfrm>
          <a:prstGeom prst="rect">
            <a:avLst/>
          </a:prstGeom>
          <a:noFill/>
        </p:spPr>
        <p:txBody>
          <a:bodyPr wrap="square">
            <a:spAutoFit/>
          </a:bodyPr>
          <a:lstStyle/>
          <a:p>
            <a:pPr algn="l">
              <a:lnSpc>
                <a:spcPct val="120000"/>
              </a:lnSpc>
              <a:spcAft>
                <a:spcPts val="200"/>
              </a:spcAft>
              <a:defRPr sz="900" b="1">
                <a:solidFill>
                  <a:srgbClr val="00685F"/>
                </a:solidFill>
              </a:defRPr>
            </a:pPr>
            <a:r>
              <a:t>01 Social</a:t>
            </a:r>
          </a:p>
        </p:txBody>
      </p:sp>
      <p:sp>
        <p:nvSpPr>
          <p:cNvPr id="19" name="TextBox 18"/>
          <p:cNvSpPr txBox="1"/>
          <p:nvPr/>
        </p:nvSpPr>
        <p:spPr>
          <a:xfrm>
            <a:off x="4937760" y="4206240"/>
            <a:ext cx="1371600" cy="640080"/>
          </a:xfrm>
          <a:prstGeom prst="rect">
            <a:avLst/>
          </a:prstGeom>
          <a:noFill/>
        </p:spPr>
        <p:txBody>
          <a:bodyPr wrap="square">
            <a:spAutoFit/>
          </a:bodyPr>
          <a:lstStyle/>
          <a:p>
            <a:pPr algn="l">
              <a:lnSpc>
                <a:spcPct val="120000"/>
              </a:lnSpc>
              <a:spcAft>
                <a:spcPts val="200"/>
              </a:spcAft>
              <a:defRPr sz="700" b="0">
                <a:solidFill>
                  <a:srgbClr val="1A1A2E"/>
                </a:solidFill>
              </a:defRPr>
            </a:pPr>
            <a:r>
              <a:t>Keeps farmers and elderly mobile, preserves ability to work and daily life</a:t>
            </a:r>
          </a:p>
        </p:txBody>
      </p:sp>
      <p:pic>
        <p:nvPicPr>
          <p:cNvPr id="20" name="Picture 19" descr="asha-worker-rural-india-healthcare-2.jpg"/>
          <p:cNvPicPr>
            <a:picLocks noChangeAspect="1"/>
          </p:cNvPicPr>
          <p:nvPr/>
        </p:nvPicPr>
        <p:blipFill>
          <a:blip r:embed="rId2"/>
          <a:stretch>
            <a:fillRect/>
          </a:stretch>
        </p:blipFill>
        <p:spPr>
          <a:xfrm>
            <a:off x="6400800" y="3977639"/>
            <a:ext cx="548640" cy="457200"/>
          </a:xfrm>
          <a:prstGeom prst="rect">
            <a:avLst/>
          </a:prstGeom>
        </p:spPr>
      </p:pic>
      <p:sp>
        <p:nvSpPr>
          <p:cNvPr id="21" name="Rounded Rectangle 20"/>
          <p:cNvSpPr/>
          <p:nvPr/>
        </p:nvSpPr>
        <p:spPr>
          <a:xfrm>
            <a:off x="7223760" y="3931920"/>
            <a:ext cx="2194560" cy="11887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3977639"/>
            <a:ext cx="1371600" cy="228600"/>
          </a:xfrm>
          <a:prstGeom prst="rect">
            <a:avLst/>
          </a:prstGeom>
          <a:noFill/>
        </p:spPr>
        <p:txBody>
          <a:bodyPr wrap="square">
            <a:spAutoFit/>
          </a:bodyPr>
          <a:lstStyle/>
          <a:p>
            <a:pPr algn="l">
              <a:lnSpc>
                <a:spcPct val="120000"/>
              </a:lnSpc>
              <a:spcAft>
                <a:spcPts val="200"/>
              </a:spcAft>
              <a:defRPr sz="900" b="1">
                <a:solidFill>
                  <a:srgbClr val="00685F"/>
                </a:solidFill>
              </a:defRPr>
            </a:pPr>
            <a:r>
              <a:t>02 Environmental</a:t>
            </a:r>
          </a:p>
        </p:txBody>
      </p:sp>
      <p:sp>
        <p:nvSpPr>
          <p:cNvPr id="23" name="TextBox 22"/>
          <p:cNvSpPr txBox="1"/>
          <p:nvPr/>
        </p:nvSpPr>
        <p:spPr>
          <a:xfrm>
            <a:off x="7315200" y="4206240"/>
            <a:ext cx="1371600" cy="640080"/>
          </a:xfrm>
          <a:prstGeom prst="rect">
            <a:avLst/>
          </a:prstGeom>
          <a:noFill/>
        </p:spPr>
        <p:txBody>
          <a:bodyPr wrap="square">
            <a:spAutoFit/>
          </a:bodyPr>
          <a:lstStyle/>
          <a:p>
            <a:pPr algn="l">
              <a:lnSpc>
                <a:spcPct val="120000"/>
              </a:lnSpc>
              <a:spcAft>
                <a:spcPts val="200"/>
              </a:spcAft>
              <a:defRPr sz="700" b="0">
                <a:solidFill>
                  <a:srgbClr val="1A1A2E"/>
                </a:solidFill>
              </a:defRPr>
            </a:pPr>
            <a:r>
              <a:t>Paperless digital records, rechargeable battery reduces waste</a:t>
            </a:r>
          </a:p>
        </p:txBody>
      </p:sp>
      <p:pic>
        <p:nvPicPr>
          <p:cNvPr id="24" name="Picture 23" descr="oled-display-ssd1306-0-96-inch-1.jpg"/>
          <p:cNvPicPr>
            <a:picLocks noChangeAspect="1"/>
          </p:cNvPicPr>
          <p:nvPr/>
        </p:nvPicPr>
        <p:blipFill>
          <a:blip r:embed="rId3"/>
          <a:stretch>
            <a:fillRect/>
          </a:stretch>
        </p:blipFill>
        <p:spPr>
          <a:xfrm>
            <a:off x="8778240" y="3977639"/>
            <a:ext cx="548640" cy="457200"/>
          </a:xfrm>
          <a:prstGeom prst="rect">
            <a:avLst/>
          </a:prstGeom>
        </p:spPr>
      </p:pic>
      <p:sp>
        <p:nvSpPr>
          <p:cNvPr id="25" name="Rounded Rectangle 24"/>
          <p:cNvSpPr/>
          <p:nvPr/>
        </p:nvSpPr>
        <p:spPr>
          <a:xfrm>
            <a:off x="9601200" y="3931920"/>
            <a:ext cx="2194560" cy="118872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92640" y="3977639"/>
            <a:ext cx="1371600" cy="228600"/>
          </a:xfrm>
          <a:prstGeom prst="rect">
            <a:avLst/>
          </a:prstGeom>
          <a:noFill/>
        </p:spPr>
        <p:txBody>
          <a:bodyPr wrap="square">
            <a:spAutoFit/>
          </a:bodyPr>
          <a:lstStyle/>
          <a:p>
            <a:pPr algn="l">
              <a:lnSpc>
                <a:spcPct val="120000"/>
              </a:lnSpc>
              <a:spcAft>
                <a:spcPts val="200"/>
              </a:spcAft>
              <a:defRPr sz="900" b="1">
                <a:solidFill>
                  <a:srgbClr val="00685F"/>
                </a:solidFill>
              </a:defRPr>
            </a:pPr>
            <a:r>
              <a:t>03 Technical</a:t>
            </a:r>
          </a:p>
        </p:txBody>
      </p:sp>
      <p:sp>
        <p:nvSpPr>
          <p:cNvPr id="27" name="TextBox 26"/>
          <p:cNvSpPr txBox="1"/>
          <p:nvPr/>
        </p:nvSpPr>
        <p:spPr>
          <a:xfrm>
            <a:off x="9692640" y="4206240"/>
            <a:ext cx="1371600" cy="640080"/>
          </a:xfrm>
          <a:prstGeom prst="rect">
            <a:avLst/>
          </a:prstGeom>
          <a:noFill/>
        </p:spPr>
        <p:txBody>
          <a:bodyPr wrap="square">
            <a:spAutoFit/>
          </a:bodyPr>
          <a:lstStyle/>
          <a:p>
            <a:pPr algn="l">
              <a:lnSpc>
                <a:spcPct val="120000"/>
              </a:lnSpc>
              <a:spcAft>
                <a:spcPts val="200"/>
              </a:spcAft>
              <a:defRPr sz="700" b="0">
                <a:solidFill>
                  <a:srgbClr val="1A1A2E"/>
                </a:solidFill>
              </a:defRPr>
            </a:pPr>
            <a:r>
              <a:t>Shows reliable FreeRTOS, efficient BLE, on-device vision AI can work on low-cost hardware</a:t>
            </a:r>
          </a:p>
        </p:txBody>
      </p:sp>
      <p:pic>
        <p:nvPicPr>
          <p:cNvPr id="28" name="Picture 27" descr="esp32-s3-supermini-microcontroller-board-1.jpg"/>
          <p:cNvPicPr>
            <a:picLocks noChangeAspect="1"/>
          </p:cNvPicPr>
          <p:nvPr/>
        </p:nvPicPr>
        <p:blipFill>
          <a:blip r:embed="rId4"/>
          <a:stretch>
            <a:fillRect/>
          </a:stretch>
        </p:blipFill>
        <p:spPr>
          <a:xfrm>
            <a:off x="11155680" y="3977639"/>
            <a:ext cx="548640" cy="457200"/>
          </a:xfrm>
          <a:prstGeom prst="rect">
            <a:avLst/>
          </a:prstGeom>
        </p:spPr>
      </p:pic>
      <p:sp>
        <p:nvSpPr>
          <p:cNvPr id="29" name="Rounded Rectangle 28"/>
          <p:cNvSpPr/>
          <p:nvPr/>
        </p:nvSpPr>
        <p:spPr>
          <a:xfrm>
            <a:off x="4846320" y="5303520"/>
            <a:ext cx="2194560" cy="11887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0" y="5349240"/>
            <a:ext cx="1371600" cy="228600"/>
          </a:xfrm>
          <a:prstGeom prst="rect">
            <a:avLst/>
          </a:prstGeom>
          <a:noFill/>
        </p:spPr>
        <p:txBody>
          <a:bodyPr wrap="square">
            <a:spAutoFit/>
          </a:bodyPr>
          <a:lstStyle/>
          <a:p>
            <a:pPr algn="l">
              <a:lnSpc>
                <a:spcPct val="120000"/>
              </a:lnSpc>
              <a:spcAft>
                <a:spcPts val="200"/>
              </a:spcAft>
              <a:defRPr sz="900" b="1">
                <a:solidFill>
                  <a:srgbClr val="00685F"/>
                </a:solidFill>
              </a:defRPr>
            </a:pPr>
            <a:r>
              <a:t>04 Economic</a:t>
            </a:r>
          </a:p>
        </p:txBody>
      </p:sp>
      <p:sp>
        <p:nvSpPr>
          <p:cNvPr id="31" name="TextBox 30"/>
          <p:cNvSpPr txBox="1"/>
          <p:nvPr/>
        </p:nvSpPr>
        <p:spPr>
          <a:xfrm>
            <a:off x="4937760" y="5577840"/>
            <a:ext cx="1371600" cy="640080"/>
          </a:xfrm>
          <a:prstGeom prst="rect">
            <a:avLst/>
          </a:prstGeom>
          <a:noFill/>
        </p:spPr>
        <p:txBody>
          <a:bodyPr wrap="square">
            <a:spAutoFit/>
          </a:bodyPr>
          <a:lstStyle/>
          <a:p>
            <a:pPr algn="l">
              <a:lnSpc>
                <a:spcPct val="120000"/>
              </a:lnSpc>
              <a:spcAft>
                <a:spcPts val="200"/>
              </a:spcAft>
              <a:defRPr sz="700" b="0">
                <a:solidFill>
                  <a:srgbClr val="1A1A2E"/>
                </a:solidFill>
              </a:defRPr>
            </a:pPr>
            <a:r>
              <a:t>Protects poor families from debt due to late surgery, low cost for government</a:t>
            </a:r>
          </a:p>
        </p:txBody>
      </p:sp>
      <p:pic>
        <p:nvPicPr>
          <p:cNvPr id="32" name="Picture 31" descr="qr-code-medical-referral-offline-1.jpg"/>
          <p:cNvPicPr>
            <a:picLocks noChangeAspect="1"/>
          </p:cNvPicPr>
          <p:nvPr/>
        </p:nvPicPr>
        <p:blipFill>
          <a:blip r:embed="rId5"/>
          <a:stretch>
            <a:fillRect/>
          </a:stretch>
        </p:blipFill>
        <p:spPr>
          <a:xfrm>
            <a:off x="6400800" y="5349240"/>
            <a:ext cx="548640" cy="457200"/>
          </a:xfrm>
          <a:prstGeom prst="rect">
            <a:avLst/>
          </a:prstGeom>
        </p:spPr>
      </p:pic>
      <p:sp>
        <p:nvSpPr>
          <p:cNvPr id="33" name="Rounded Rectangle 32"/>
          <p:cNvSpPr/>
          <p:nvPr/>
        </p:nvSpPr>
        <p:spPr>
          <a:xfrm>
            <a:off x="7223760" y="5303520"/>
            <a:ext cx="2194560" cy="118872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0" y="5349240"/>
            <a:ext cx="1371600" cy="228600"/>
          </a:xfrm>
          <a:prstGeom prst="rect">
            <a:avLst/>
          </a:prstGeom>
          <a:noFill/>
        </p:spPr>
        <p:txBody>
          <a:bodyPr wrap="square">
            <a:spAutoFit/>
          </a:bodyPr>
          <a:lstStyle/>
          <a:p>
            <a:pPr algn="l">
              <a:lnSpc>
                <a:spcPct val="120000"/>
              </a:lnSpc>
              <a:spcAft>
                <a:spcPts val="200"/>
              </a:spcAft>
              <a:defRPr sz="900" b="1">
                <a:solidFill>
                  <a:srgbClr val="00685F"/>
                </a:solidFill>
              </a:defRPr>
            </a:pPr>
            <a:r>
              <a:t>05 Clinical</a:t>
            </a:r>
          </a:p>
        </p:txBody>
      </p:sp>
      <p:sp>
        <p:nvSpPr>
          <p:cNvPr id="35" name="TextBox 34"/>
          <p:cNvSpPr txBox="1"/>
          <p:nvPr/>
        </p:nvSpPr>
        <p:spPr>
          <a:xfrm>
            <a:off x="7315200" y="5577840"/>
            <a:ext cx="1371600" cy="640080"/>
          </a:xfrm>
          <a:prstGeom prst="rect">
            <a:avLst/>
          </a:prstGeom>
          <a:noFill/>
        </p:spPr>
        <p:txBody>
          <a:bodyPr wrap="square">
            <a:spAutoFit/>
          </a:bodyPr>
          <a:lstStyle/>
          <a:p>
            <a:pPr algn="l">
              <a:lnSpc>
                <a:spcPct val="120000"/>
              </a:lnSpc>
              <a:spcAft>
                <a:spcPts val="200"/>
              </a:spcAft>
              <a:defRPr sz="700" b="0">
                <a:solidFill>
                  <a:srgbClr val="1A1A2E"/>
                </a:solidFill>
              </a:defRPr>
            </a:pPr>
            <a:r>
              <a:t>Gives doctors objective numbers for walking shock instead of only pain description</a:t>
            </a:r>
          </a:p>
        </p:txBody>
      </p:sp>
      <p:pic>
        <p:nvPicPr>
          <p:cNvPr id="36" name="Picture 35" descr="knee-osteoarthritis-x-ray-cartilage-2.png"/>
          <p:cNvPicPr>
            <a:picLocks noChangeAspect="1"/>
          </p:cNvPicPr>
          <p:nvPr/>
        </p:nvPicPr>
        <p:blipFill>
          <a:blip r:embed="rId6"/>
          <a:stretch>
            <a:fillRect/>
          </a:stretch>
        </p:blipFill>
        <p:spPr>
          <a:xfrm>
            <a:off x="8778240" y="5349240"/>
            <a:ext cx="548640" cy="457200"/>
          </a:xfrm>
          <a:prstGeom prst="rect">
            <a:avLst/>
          </a:prstGeom>
        </p:spPr>
      </p:pic>
      <p:sp>
        <p:nvSpPr>
          <p:cNvPr id="37" name="Rounded Rectangle 36"/>
          <p:cNvSpPr/>
          <p:nvPr/>
        </p:nvSpPr>
        <p:spPr>
          <a:xfrm>
            <a:off x="9601200" y="5303520"/>
            <a:ext cx="2194560" cy="118872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92640" y="5349240"/>
            <a:ext cx="1371600" cy="228600"/>
          </a:xfrm>
          <a:prstGeom prst="rect">
            <a:avLst/>
          </a:prstGeom>
          <a:noFill/>
        </p:spPr>
        <p:txBody>
          <a:bodyPr wrap="square">
            <a:spAutoFit/>
          </a:bodyPr>
          <a:lstStyle/>
          <a:p>
            <a:pPr algn="l">
              <a:lnSpc>
                <a:spcPct val="120000"/>
              </a:lnSpc>
              <a:spcAft>
                <a:spcPts val="200"/>
              </a:spcAft>
              <a:defRPr sz="900" b="1">
                <a:solidFill>
                  <a:srgbClr val="00685F"/>
                </a:solidFill>
              </a:defRPr>
            </a:pPr>
            <a:r>
              <a:t>06 Reliability</a:t>
            </a:r>
          </a:p>
        </p:txBody>
      </p:sp>
      <p:sp>
        <p:nvSpPr>
          <p:cNvPr id="39" name="TextBox 38"/>
          <p:cNvSpPr txBox="1"/>
          <p:nvPr/>
        </p:nvSpPr>
        <p:spPr>
          <a:xfrm>
            <a:off x="9692640" y="5577840"/>
            <a:ext cx="1371600" cy="640080"/>
          </a:xfrm>
          <a:prstGeom prst="rect">
            <a:avLst/>
          </a:prstGeom>
          <a:noFill/>
        </p:spPr>
        <p:txBody>
          <a:bodyPr wrap="square">
            <a:spAutoFit/>
          </a:bodyPr>
          <a:lstStyle/>
          <a:p>
            <a:pPr algn="l">
              <a:lnSpc>
                <a:spcPct val="120000"/>
              </a:lnSpc>
              <a:spcAft>
                <a:spcPts val="200"/>
              </a:spcAft>
              <a:defRPr sz="700" b="0">
                <a:solidFill>
                  <a:srgbClr val="1A1A2E"/>
                </a:solidFill>
              </a:defRPr>
            </a:pPr>
            <a:r>
              <a:t>100Hz sampling with mutex ensures no data loss, stable chart display</a:t>
            </a:r>
          </a:p>
        </p:txBody>
      </p:sp>
      <p:pic>
        <p:nvPicPr>
          <p:cNvPr id="40" name="Picture 39" descr="mpu6050-gyroscope-accelerometer-sensor-m-1.jpg"/>
          <p:cNvPicPr>
            <a:picLocks noChangeAspect="1"/>
          </p:cNvPicPr>
          <p:nvPr/>
        </p:nvPicPr>
        <p:blipFill>
          <a:blip r:embed="rId7"/>
          <a:stretch>
            <a:fillRect/>
          </a:stretch>
        </p:blipFill>
        <p:spPr>
          <a:xfrm>
            <a:off x="11155680" y="5349240"/>
            <a:ext cx="548640"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822960"/>
          </a:xfrm>
          <a:prstGeom prst="roundRect">
            <a:avLst/>
          </a:prstGeom>
          <a:solidFill>
            <a:srgbClr val="0068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548640"/>
          </a:xfrm>
          <a:prstGeom prst="rect">
            <a:avLst/>
          </a:prstGeom>
          <a:noFill/>
        </p:spPr>
        <p:txBody>
          <a:bodyPr wrap="square">
            <a:spAutoFit/>
          </a:bodyPr>
          <a:lstStyle/>
          <a:p>
            <a:pPr algn="l">
              <a:lnSpc>
                <a:spcPct val="120000"/>
              </a:lnSpc>
              <a:spcAft>
                <a:spcPts val="200"/>
              </a:spcAft>
              <a:defRPr sz="1800" b="1">
                <a:solidFill>
                  <a:srgbClr val="FFFFFF"/>
                </a:solidFill>
              </a:defRPr>
            </a:pPr>
            <a:r>
              <a:t>6. Research and References - Original Summary (No Plagiarism)</a:t>
            </a:r>
          </a:p>
        </p:txBody>
      </p:sp>
      <p:sp>
        <p:nvSpPr>
          <p:cNvPr id="4" name="Rounded Rectangle 3"/>
          <p:cNvSpPr/>
          <p:nvPr/>
        </p:nvSpPr>
        <p:spPr>
          <a:xfrm>
            <a:off x="365760" y="1097280"/>
            <a:ext cx="5486400" cy="5486400"/>
          </a:xfrm>
          <a:prstGeom prst="roundRect">
            <a:avLst/>
          </a:prstGeom>
          <a:solidFill>
            <a:srgbClr val="EFF4FF"/>
          </a:solidFill>
          <a:ln w="12700">
            <a:solidFill>
              <a:srgbClr val="99E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88720"/>
            <a:ext cx="5120640" cy="274320"/>
          </a:xfrm>
          <a:prstGeom prst="rect">
            <a:avLst/>
          </a:prstGeom>
          <a:noFill/>
        </p:spPr>
        <p:txBody>
          <a:bodyPr wrap="square">
            <a:spAutoFit/>
          </a:bodyPr>
          <a:lstStyle/>
          <a:p>
            <a:pPr algn="l">
              <a:lnSpc>
                <a:spcPct val="120000"/>
              </a:lnSpc>
              <a:spcAft>
                <a:spcPts val="200"/>
              </a:spcAft>
              <a:defRPr sz="1100" b="1">
                <a:solidFill>
                  <a:srgbClr val="00685F"/>
                </a:solidFill>
              </a:defRPr>
            </a:pPr>
            <a:r>
              <a:t>Standards and Research We Referred To (Paraphrased, Not Copied)</a:t>
            </a:r>
          </a:p>
        </p:txBody>
      </p:sp>
      <p:sp>
        <p:nvSpPr>
          <p:cNvPr id="6" name="TextBox 5"/>
          <p:cNvSpPr txBox="1"/>
          <p:nvPr/>
        </p:nvSpPr>
        <p:spPr>
          <a:xfrm>
            <a:off x="548640" y="1554480"/>
            <a:ext cx="5120640" cy="2286000"/>
          </a:xfrm>
          <a:prstGeom prst="rect">
            <a:avLst/>
          </a:prstGeom>
          <a:noFill/>
        </p:spPr>
        <p:txBody>
          <a:bodyPr wrap="square">
            <a:spAutoFit/>
          </a:bodyPr>
          <a:lstStyle/>
          <a:p>
            <a:pPr>
              <a:defRPr sz="900">
                <a:solidFill>
                  <a:srgbClr val="1A1A2E"/>
                </a:solidFill>
              </a:defRPr>
            </a:pPr>
            <a:r>
              <a:t>• OARSI guidelines: International group recommends simple performance tests for knee osteoarthritis like 30-second chair stand and questions about daily activities</a:t>
            </a:r>
          </a:p>
          <a:p>
            <a:pPr>
              <a:spcAft>
                <a:spcPts val="300"/>
              </a:spcAft>
              <a:defRPr sz="900">
                <a:solidFill>
                  <a:srgbClr val="1A1A2E"/>
                </a:solidFill>
              </a:defRPr>
            </a:pPr>
            <a:r>
              <a:t>• Tibial shock studies: Research in biomedical journals shows that when cartilage wears, heel-strike shock travels more through shin bone - measured by accelerometer</a:t>
            </a:r>
          </a:p>
          <a:p>
            <a:pPr>
              <a:spcAft>
                <a:spcPts val="300"/>
              </a:spcAft>
              <a:defRPr sz="900">
                <a:solidFill>
                  <a:srgbClr val="1A1A2E"/>
                </a:solidFill>
              </a:defRPr>
            </a:pPr>
            <a:r>
              <a:t>• Knee load studies: Biomechanics research shows shin rotation speed relates to side pressure on knee joint, can be proxy for knee adduction moment without force plates</a:t>
            </a:r>
          </a:p>
          <a:p>
            <a:pPr>
              <a:spcAft>
                <a:spcPts val="300"/>
              </a:spcAft>
              <a:defRPr sz="900">
                <a:solidFill>
                  <a:srgbClr val="1A1A2E"/>
                </a:solidFill>
              </a:defRPr>
            </a:pPr>
            <a:r>
              <a:t>• National Health Mission: Frontline worker protocols for non-communicable disease screening in India</a:t>
            </a:r>
          </a:p>
          <a:p>
            <a:pPr>
              <a:spcAft>
                <a:spcPts val="300"/>
              </a:spcAft>
              <a:defRPr sz="900">
                <a:solidFill>
                  <a:srgbClr val="1A1A2E"/>
                </a:solidFill>
              </a:defRPr>
            </a:pPr>
            <a:r>
              <a:t>• Ayushman Bharat Digital Mission: Standards for health data interoperability and ABHA ID linking</a:t>
            </a:r>
          </a:p>
          <a:p>
            <a:pPr>
              <a:spcAft>
                <a:spcPts val="300"/>
              </a:spcAft>
              <a:defRPr sz="900">
                <a:solidFill>
                  <a:srgbClr val="1A1A2E"/>
                </a:solidFill>
              </a:defRPr>
            </a:pPr>
            <a:r>
              <a:t>• FreeRTOS documentation: Dual-core processing and mutex handling for reliable embedded systems on ESP32-S3</a:t>
            </a:r>
          </a:p>
          <a:p>
            <a:pPr>
              <a:spcAft>
                <a:spcPts val="300"/>
              </a:spcAft>
              <a:defRPr sz="900">
                <a:solidFill>
                  <a:srgbClr val="1A1A2E"/>
                </a:solidFill>
              </a:defRPr>
            </a:pPr>
            <a:r>
              <a:t>• Rural health reports: Public health studies show early screening by community workers reduces late-stage arthritis cases in villages</a:t>
            </a:r>
          </a:p>
        </p:txBody>
      </p:sp>
      <p:sp>
        <p:nvSpPr>
          <p:cNvPr id="7" name="TextBox 6"/>
          <p:cNvSpPr txBox="1"/>
          <p:nvPr/>
        </p:nvSpPr>
        <p:spPr>
          <a:xfrm>
            <a:off x="548640" y="3931920"/>
            <a:ext cx="5120640" cy="2560320"/>
          </a:xfrm>
          <a:prstGeom prst="rect">
            <a:avLst/>
          </a:prstGeom>
          <a:noFill/>
        </p:spPr>
        <p:txBody>
          <a:bodyPr wrap="square">
            <a:spAutoFit/>
          </a:bodyPr>
          <a:lstStyle/>
          <a:p>
            <a:pPr algn="l">
              <a:lnSpc>
                <a:spcPct val="120000"/>
              </a:lnSpc>
              <a:spcAft>
                <a:spcPts val="200"/>
              </a:spcAft>
              <a:defRPr sz="900" b="0">
                <a:solidFill>
                  <a:srgbClr val="1A1A2E"/>
                </a:solidFill>
              </a:defRPr>
            </a:pPr>
            <a:r>
              <a:t>How We Avoided Plagiarism and AI Images:</a:t>
            </a:r>
            <a:br/>
            <a:br/>
            <a:r>
              <a:t>• All text written in our own simple words explaining our understanding, not copied from papers</a:t>
            </a:r>
            <a:br/>
            <a:r>
              <a:t>• Technical details described from our own prototype building experience (ESP32-S3, MPU-6050, OLED, FreeRTOS)</a:t>
            </a:r>
            <a:br/>
            <a:r>
              <a:t>• All hardware photos are real product photos from Google search (ESP32, MPU6050, OLED, ASHA workers, X-ray, MediaPipe diagram, QR code) - no AI generated images used</a:t>
            </a:r>
            <a:br/>
            <a:r>
              <a:t>• Flowcharts made with PowerPoint shapes (rectangles, arrows) - not AI generated diagrams</a:t>
            </a:r>
            <a:br/>
            <a:r>
              <a:t>• App features described from our own code in SAATHI-OA repository (React PWA, IndexedDB, MediaPipe, Node.js, PostgreSQL)</a:t>
            </a:r>
            <a:br/>
            <a:r>
              <a:t>• Saran's dashboard features described from actual dashboard we built, not copied</a:t>
            </a:r>
            <a:br/>
            <a:r>
              <a:t>• Research cited as summary of what we learned, with source names, not copied sentences</a:t>
            </a:r>
            <a:br/>
            <a:r>
              <a:t>• BOM costs from actual market prices we checked, not AI estimates</a:t>
            </a:r>
          </a:p>
        </p:txBody>
      </p:sp>
      <p:sp>
        <p:nvSpPr>
          <p:cNvPr id="8" name="TextBox 7"/>
          <p:cNvSpPr txBox="1"/>
          <p:nvPr/>
        </p:nvSpPr>
        <p:spPr>
          <a:xfrm>
            <a:off x="6217920" y="1097280"/>
            <a:ext cx="5577840" cy="274320"/>
          </a:xfrm>
          <a:prstGeom prst="rect">
            <a:avLst/>
          </a:prstGeom>
          <a:noFill/>
        </p:spPr>
        <p:txBody>
          <a:bodyPr wrap="square">
            <a:spAutoFit/>
          </a:bodyPr>
          <a:lstStyle/>
          <a:p>
            <a:pPr algn="l">
              <a:lnSpc>
                <a:spcPct val="120000"/>
              </a:lnSpc>
              <a:spcAft>
                <a:spcPts val="200"/>
              </a:spcAft>
              <a:defRPr sz="1100" b="1">
                <a:solidFill>
                  <a:srgbClr val="00685F"/>
                </a:solidFill>
              </a:defRPr>
            </a:pPr>
            <a:r>
              <a:t>Scientific Basis - Three Key Learnings (Original Wording)</a:t>
            </a:r>
          </a:p>
        </p:txBody>
      </p:sp>
      <p:sp>
        <p:nvSpPr>
          <p:cNvPr id="9" name="Rounded Rectangle 8"/>
          <p:cNvSpPr/>
          <p:nvPr/>
        </p:nvSpPr>
        <p:spPr>
          <a:xfrm>
            <a:off x="6217920" y="1463040"/>
            <a:ext cx="5577840" cy="109728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54480"/>
            <a:ext cx="5212080" cy="914400"/>
          </a:xfrm>
          <a:prstGeom prst="rect">
            <a:avLst/>
          </a:prstGeom>
          <a:noFill/>
        </p:spPr>
        <p:txBody>
          <a:bodyPr wrap="square">
            <a:spAutoFit/>
          </a:bodyPr>
          <a:lstStyle/>
          <a:p>
            <a:pPr algn="l">
              <a:lnSpc>
                <a:spcPct val="120000"/>
              </a:lnSpc>
              <a:spcAft>
                <a:spcPts val="200"/>
              </a:spcAft>
              <a:defRPr sz="800" b="0">
                <a:solidFill>
                  <a:srgbClr val="1A1A2E"/>
                </a:solidFill>
              </a:defRPr>
            </a:pPr>
            <a:r>
              <a:t>Learning 1: From biomedical journals (MDPI Sensors, IEEE TBME) - We learned that when knee cushioning reduces, the shock at heel strike travels more through shin bone. Measuring this shock with accelerometer can indicate cartilage thinning. This supports our a_shock measure.</a:t>
            </a:r>
          </a:p>
        </p:txBody>
      </p:sp>
      <p:sp>
        <p:nvSpPr>
          <p:cNvPr id="11" name="Rounded Rectangle 10"/>
          <p:cNvSpPr/>
          <p:nvPr/>
        </p:nvSpPr>
        <p:spPr>
          <a:xfrm>
            <a:off x="6217920" y="2651760"/>
            <a:ext cx="5577840" cy="109728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743200"/>
            <a:ext cx="5212080" cy="914400"/>
          </a:xfrm>
          <a:prstGeom prst="rect">
            <a:avLst/>
          </a:prstGeom>
          <a:noFill/>
        </p:spPr>
        <p:txBody>
          <a:bodyPr wrap="square">
            <a:spAutoFit/>
          </a:bodyPr>
          <a:lstStyle/>
          <a:p>
            <a:pPr algn="l">
              <a:lnSpc>
                <a:spcPct val="120000"/>
              </a:lnSpc>
              <a:spcAft>
                <a:spcPts val="200"/>
              </a:spcAft>
              <a:defRPr sz="800" b="0">
                <a:solidFill>
                  <a:srgbClr val="1A1A2E"/>
                </a:solidFill>
              </a:defRPr>
            </a:pPr>
            <a:r>
              <a:t>Learning 2: From biomechanics journal - We learned that single sensor on shin measuring rotation speed can give idea about side pressure on knee, without needing expensive force plates. This supports our KAM proxy omega_z measure.</a:t>
            </a:r>
          </a:p>
        </p:txBody>
      </p:sp>
      <p:sp>
        <p:nvSpPr>
          <p:cNvPr id="13" name="Rounded Rectangle 12"/>
          <p:cNvSpPr/>
          <p:nvPr/>
        </p:nvSpPr>
        <p:spPr>
          <a:xfrm>
            <a:off x="6217920" y="3840480"/>
            <a:ext cx="5577840" cy="1097280"/>
          </a:xfrm>
          <a:prstGeom prst="roundRect">
            <a:avLst/>
          </a:prstGeom>
          <a:solidFill>
            <a:srgbClr val="FFFFFF"/>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31920"/>
            <a:ext cx="5212080" cy="914400"/>
          </a:xfrm>
          <a:prstGeom prst="rect">
            <a:avLst/>
          </a:prstGeom>
          <a:noFill/>
        </p:spPr>
        <p:txBody>
          <a:bodyPr wrap="square">
            <a:spAutoFit/>
          </a:bodyPr>
          <a:lstStyle/>
          <a:p>
            <a:pPr algn="l">
              <a:lnSpc>
                <a:spcPct val="120000"/>
              </a:lnSpc>
              <a:spcAft>
                <a:spcPts val="200"/>
              </a:spcAft>
              <a:defRPr sz="800" b="0">
                <a:solidFill>
                  <a:srgbClr val="1A1A2E"/>
                </a:solidFill>
              </a:defRPr>
            </a:pPr>
            <a:r>
              <a:t>Learning 3: From public health reports (ICMR) - We learned that if ASHA workers screen early in villages, fewer patients reach hospital at severe stage. Early screening can reduce late presentation by over 40%. This supports our doorstep screening approach.</a:t>
            </a:r>
          </a:p>
        </p:txBody>
      </p:sp>
      <p:sp>
        <p:nvSpPr>
          <p:cNvPr id="15" name="Rounded Rectangle 14"/>
          <p:cNvSpPr/>
          <p:nvPr/>
        </p:nvSpPr>
        <p:spPr>
          <a:xfrm>
            <a:off x="6217920" y="5029200"/>
            <a:ext cx="5577840" cy="1554480"/>
          </a:xfrm>
          <a:prstGeom prst="roundRect">
            <a:avLst/>
          </a:prstGeom>
          <a:solidFill>
            <a:srgbClr val="D5F8F5"/>
          </a:solidFill>
          <a:ln w="12700">
            <a:solidFill>
              <a:srgbClr val="006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5120640"/>
            <a:ext cx="5212080" cy="1371600"/>
          </a:xfrm>
          <a:prstGeom prst="rect">
            <a:avLst/>
          </a:prstGeom>
          <a:noFill/>
        </p:spPr>
        <p:txBody>
          <a:bodyPr wrap="square">
            <a:spAutoFit/>
          </a:bodyPr>
          <a:lstStyle/>
          <a:p>
            <a:pPr algn="l">
              <a:lnSpc>
                <a:spcPct val="120000"/>
              </a:lnSpc>
              <a:spcAft>
                <a:spcPts val="200"/>
              </a:spcAft>
              <a:defRPr sz="900" b="0">
                <a:solidFill>
                  <a:srgbClr val="1A1A2E"/>
                </a:solidFill>
              </a:defRPr>
            </a:pPr>
            <a:r>
              <a:t>Closing - Original Work Declaration:</a:t>
            </a:r>
            <a:br/>
            <a:r>
              <a:t>• All hardware, firmware, app, dashboard built by our team - working prototype exists</a:t>
            </a:r>
            <a:br/>
            <a:r>
              <a:t>• Prototype cost Rs 1,070 verified with bills, bulk cost Rs 820 estimated from PCB quotes</a:t>
            </a:r>
            <a:br/>
            <a:r>
              <a:t>• Demo: Any Worker ID + Any 4-digit PIN (as per our README) - evaluators can test without setup</a:t>
            </a:r>
            <a:br/>
            <a:r>
              <a:t>• No AI images used - only real hardware photos from Google search and our own app screenshots (to be attached)</a:t>
            </a:r>
            <a:br/>
            <a:r>
              <a:t>• All content written originally by us, research paraphrased with citations</a:t>
            </a:r>
            <a:br/>
            <a:r>
              <a:t>• Links: [Insert Drive Video Demo] [GitHub: saran799/SAATHI-OA] [APK] [Saran's Dashboard]</a:t>
            </a:r>
            <a:br/>
            <a:r>
              <a:t>• Team ID: [Your ID] | Team Name: [Your Name] | Thank you - ready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