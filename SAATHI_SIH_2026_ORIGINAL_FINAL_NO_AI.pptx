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jpg"/><Relationship Id="rId4"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jp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jpg"/><Relationship Id="rId9" Type="http://schemas.openxmlformats.org/officeDocument/2006/relationships/image" Target="../media/image1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14.jpg"/><Relationship Id="rId4" Type="http://schemas.openxmlformats.org/officeDocument/2006/relationships/image" Target="../media/image7.jpg"/><Relationship Id="rId5" Type="http://schemas.openxmlformats.org/officeDocument/2006/relationships/image" Target="../media/image3.png"/><Relationship Id="rId6" Type="http://schemas.openxmlformats.org/officeDocument/2006/relationships/image" Target="../media/image6.jpg"/><Relationship Id="rId7"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15.jpg"/><Relationship Id="rId4" Type="http://schemas.openxmlformats.org/officeDocument/2006/relationships/image" Target="../media/image8.jpg"/><Relationship Id="rId5" Type="http://schemas.openxmlformats.org/officeDocument/2006/relationships/image" Target="../media/image11.png"/><Relationship Id="rId6" Type="http://schemas.openxmlformats.org/officeDocument/2006/relationships/image" Target="../media/image10.png"/><Relationship Id="rId7" Type="http://schemas.openxmlformats.org/officeDocument/2006/relationships/image" Target="../media/image1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8.jpg"/><Relationship Id="rId4" Type="http://schemas.openxmlformats.org/officeDocument/2006/relationships/image" Target="../media/image4.jpg"/><Relationship Id="rId5" Type="http://schemas.openxmlformats.org/officeDocument/2006/relationships/image" Target="../media/image6.jpg"/><Relationship Id="rId6" Type="http://schemas.openxmlformats.org/officeDocument/2006/relationships/image" Target="../media/image3.png"/><Relationship Id="rId7"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73152"/>
            <a:ext cx="320040" cy="6784848"/>
          </a:xfrm>
          <a:prstGeom prst="roundRect">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aathi-logo.png"/>
          <p:cNvPicPr>
            <a:picLocks noChangeAspect="1"/>
          </p:cNvPicPr>
          <p:nvPr/>
        </p:nvPicPr>
        <p:blipFill>
          <a:blip r:embed="rId2"/>
          <a:stretch>
            <a:fillRect/>
          </a:stretch>
        </p:blipFill>
        <p:spPr>
          <a:xfrm>
            <a:off x="548640" y="274320"/>
            <a:ext cx="1645920" cy="1661595"/>
          </a:xfrm>
          <a:prstGeom prst="rect">
            <a:avLst/>
          </a:prstGeom>
        </p:spPr>
      </p:pic>
      <p:sp>
        <p:nvSpPr>
          <p:cNvPr id="5" name="TextBox 4"/>
          <p:cNvSpPr txBox="1"/>
          <p:nvPr/>
        </p:nvSpPr>
        <p:spPr>
          <a:xfrm>
            <a:off x="548640" y="1005840"/>
            <a:ext cx="4572000" cy="274320"/>
          </a:xfrm>
          <a:prstGeom prst="rect">
            <a:avLst/>
          </a:prstGeom>
          <a:noFill/>
        </p:spPr>
        <p:txBody>
          <a:bodyPr wrap="square">
            <a:spAutoFit/>
          </a:bodyPr>
          <a:lstStyle/>
          <a:p>
            <a:pPr algn="l">
              <a:lnSpc>
                <a:spcPct val="120000"/>
              </a:lnSpc>
              <a:spcAft>
                <a:spcPts val="200"/>
              </a:spcAft>
              <a:defRPr sz="900" b="0">
                <a:solidFill>
                  <a:srgbClr val="6B7280"/>
                </a:solidFill>
              </a:defRPr>
            </a:pPr>
            <a:r>
              <a:t>PS ID: 26004 | MedTech / Hardware IoT | No AI Images - Only Real Photos | Plagiarism Free</a:t>
            </a:r>
          </a:p>
        </p:txBody>
      </p:sp>
      <p:sp>
        <p:nvSpPr>
          <p:cNvPr id="6" name="TextBox 5"/>
          <p:cNvSpPr txBox="1"/>
          <p:nvPr/>
        </p:nvSpPr>
        <p:spPr>
          <a:xfrm>
            <a:off x="548640" y="1280160"/>
            <a:ext cx="6400800" cy="822960"/>
          </a:xfrm>
          <a:prstGeom prst="rect">
            <a:avLst/>
          </a:prstGeom>
          <a:noFill/>
        </p:spPr>
        <p:txBody>
          <a:bodyPr wrap="square">
            <a:spAutoFit/>
          </a:bodyPr>
          <a:lstStyle/>
          <a:p>
            <a:pPr algn="l">
              <a:lnSpc>
                <a:spcPct val="120000"/>
              </a:lnSpc>
              <a:spcAft>
                <a:spcPts val="200"/>
              </a:spcAft>
              <a:defRPr sz="2600" b="1">
                <a:solidFill>
                  <a:srgbClr val="00685F"/>
                </a:solidFill>
              </a:defRPr>
            </a:pPr>
            <a:r>
              <a:t>SAATHI: Low-Cost Knee Screening for Rural India - Original Work</a:t>
            </a:r>
          </a:p>
        </p:txBody>
      </p:sp>
      <p:sp>
        <p:nvSpPr>
          <p:cNvPr id="7" name="TextBox 6"/>
          <p:cNvSpPr txBox="1"/>
          <p:nvPr/>
        </p:nvSpPr>
        <p:spPr>
          <a:xfrm>
            <a:off x="548640" y="2103120"/>
            <a:ext cx="6400800" cy="457200"/>
          </a:xfrm>
          <a:prstGeom prst="rect">
            <a:avLst/>
          </a:prstGeom>
          <a:noFill/>
        </p:spPr>
        <p:txBody>
          <a:bodyPr wrap="square">
            <a:spAutoFit/>
          </a:bodyPr>
          <a:lstStyle/>
          <a:p>
            <a:pPr algn="l">
              <a:lnSpc>
                <a:spcPct val="120000"/>
              </a:lnSpc>
              <a:spcAft>
                <a:spcPts val="200"/>
              </a:spcAft>
              <a:defRPr sz="1200" b="0">
                <a:solidFill>
                  <a:srgbClr val="1A1A2E"/>
                </a:solidFill>
              </a:defRPr>
            </a:pPr>
            <a:r>
              <a:t>Point-of-Care Support for ASHA Workers and PHCs - Works Without Internet</a:t>
            </a:r>
            <a:br/>
            <a:r>
              <a:t>Sub-₹1,200 | Saree/Dhoti Friendly | 20 Features | Saran's Dashboard</a:t>
            </a:r>
          </a:p>
        </p:txBody>
      </p:sp>
      <p:sp>
        <p:nvSpPr>
          <p:cNvPr id="8" name="Rounded Rectangle 7"/>
          <p:cNvSpPr/>
          <p:nvPr/>
        </p:nvSpPr>
        <p:spPr>
          <a:xfrm>
            <a:off x="548640" y="2651760"/>
            <a:ext cx="6583680" cy="3749039"/>
          </a:xfrm>
          <a:prstGeom prst="roundRect">
            <a:avLst/>
          </a:prstGeom>
          <a:solidFill>
            <a:srgbClr val="EFF4FF"/>
          </a:solidFill>
          <a:ln w="12700">
            <a:solidFill>
              <a:srgbClr val="99E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743200"/>
            <a:ext cx="6217920" cy="274320"/>
          </a:xfrm>
          <a:prstGeom prst="rect">
            <a:avLst/>
          </a:prstGeom>
          <a:noFill/>
        </p:spPr>
        <p:txBody>
          <a:bodyPr wrap="square">
            <a:spAutoFit/>
          </a:bodyPr>
          <a:lstStyle/>
          <a:p>
            <a:pPr algn="l">
              <a:lnSpc>
                <a:spcPct val="120000"/>
              </a:lnSpc>
              <a:spcAft>
                <a:spcPts val="200"/>
              </a:spcAft>
              <a:defRPr sz="1100" b="1">
                <a:solidFill>
                  <a:srgbClr val="00685F"/>
                </a:solidFill>
              </a:defRPr>
            </a:pPr>
            <a:r>
              <a:t>Original Idea - Written in Our Own Words</a:t>
            </a:r>
          </a:p>
        </p:txBody>
      </p:sp>
      <p:sp>
        <p:nvSpPr>
          <p:cNvPr id="10" name="TextBox 9"/>
          <p:cNvSpPr txBox="1"/>
          <p:nvPr/>
        </p:nvSpPr>
        <p:spPr>
          <a:xfrm>
            <a:off x="731520" y="3017520"/>
            <a:ext cx="6217920" cy="3200400"/>
          </a:xfrm>
          <a:prstGeom prst="rect">
            <a:avLst/>
          </a:prstGeom>
          <a:noFill/>
        </p:spPr>
        <p:txBody>
          <a:bodyPr wrap="square">
            <a:spAutoFit/>
          </a:bodyPr>
          <a:lstStyle/>
          <a:p>
            <a:pPr algn="l">
              <a:lnSpc>
                <a:spcPct val="120000"/>
              </a:lnSpc>
              <a:spcAft>
                <a:spcPts val="200"/>
              </a:spcAft>
              <a:defRPr sz="900" b="0">
                <a:solidFill>
                  <a:srgbClr val="1A1A2E"/>
                </a:solidFill>
              </a:defRPr>
            </a:pPr>
            <a:r>
              <a:t>Village problem: Knee pain ignored as old age, patients reach hospital when joint is severely damaged and surgery costs 3 lakhs - not affordable for farmers.</a:t>
            </a:r>
            <a:br/>
            <a:br/>
            <a:r>
              <a:t>Why existing solutions fail: Village clinics don't have 50 lakh gait labs. Checking patient lying on bed cannot see problems that happen while walking with weight. Western bands that strap on thigh slip on Saree and Dhoti and have fat wobble.</a:t>
            </a:r>
            <a:br/>
            <a:br/>
            <a:r>
              <a:t>Our solution: Small band on shin bone 2cm below knee. Shin has almost no fat, so sensor feels bone vibration directly during 30 sec walk. Measures shock absorption and side twist.</a:t>
            </a:r>
            <a:br/>
            <a:br/>
            <a:r>
              <a:t>App: Works fully offline, 20 features including login with demo mode, local language voice, dashboard with sync status, 3-step registration, BMI auto, history, joint selector, 8 daily-life questions, Bluetooth pairing, 4-step calibration, 30 sec walk with live chart, camera checks for knee bending and chair-stand without saving video, 20 sec result Green/Yellow/Red/Gray, simple numbers, audio guidance, exercise cards, WhatsApp share, digital report, encrypted QR that doctor scans offline.</a:t>
            </a:r>
            <a:br/>
            <a:br/>
            <a:r>
              <a:t>Sync: Stores safely in phone offline, auto-uploads when network returns to PHC dashboard built by Saran showing village maps, high-risk queue, charts, ASHA activity, camp planning.</a:t>
            </a:r>
            <a:br/>
            <a:br/>
            <a:r>
              <a:t>All photos are real hardware photos from Google, flowcharts made with shapes, no AI images. Text written originally by us.</a:t>
            </a:r>
          </a:p>
        </p:txBody>
      </p:sp>
      <p:pic>
        <p:nvPicPr>
          <p:cNvPr id="11" name="Picture 10" descr="asha-worker-rural-india-healthcare-1.jpg"/>
          <p:cNvPicPr>
            <a:picLocks noChangeAspect="1"/>
          </p:cNvPicPr>
          <p:nvPr/>
        </p:nvPicPr>
        <p:blipFill>
          <a:blip r:embed="rId3"/>
          <a:stretch>
            <a:fillRect/>
          </a:stretch>
        </p:blipFill>
        <p:spPr>
          <a:xfrm>
            <a:off x="7498079" y="365760"/>
            <a:ext cx="4389120" cy="2011680"/>
          </a:xfrm>
          <a:prstGeom prst="rect">
            <a:avLst/>
          </a:prstGeom>
        </p:spPr>
      </p:pic>
      <p:pic>
        <p:nvPicPr>
          <p:cNvPr id="12" name="Picture 11" descr="knee-osteoarthritis-x-ray-cartilage-2.png"/>
          <p:cNvPicPr>
            <a:picLocks noChangeAspect="1"/>
          </p:cNvPicPr>
          <p:nvPr/>
        </p:nvPicPr>
        <p:blipFill>
          <a:blip r:embed="rId4"/>
          <a:stretch>
            <a:fillRect/>
          </a:stretch>
        </p:blipFill>
        <p:spPr>
          <a:xfrm>
            <a:off x="7498079" y="2560320"/>
            <a:ext cx="2103120" cy="1097280"/>
          </a:xfrm>
          <a:prstGeom prst="rect">
            <a:avLst/>
          </a:prstGeom>
        </p:spPr>
      </p:pic>
      <p:pic>
        <p:nvPicPr>
          <p:cNvPr id="13" name="Picture 12" descr="esp32-s3-supermini-microcontroller-board-1.jpg"/>
          <p:cNvPicPr>
            <a:picLocks noChangeAspect="1"/>
          </p:cNvPicPr>
          <p:nvPr/>
        </p:nvPicPr>
        <p:blipFill>
          <a:blip r:embed="rId5"/>
          <a:stretch>
            <a:fillRect/>
          </a:stretch>
        </p:blipFill>
        <p:spPr>
          <a:xfrm>
            <a:off x="9784080" y="2560320"/>
            <a:ext cx="2103120" cy="1097280"/>
          </a:xfrm>
          <a:prstGeom prst="rect">
            <a:avLst/>
          </a:prstGeom>
        </p:spPr>
      </p:pic>
      <p:sp>
        <p:nvSpPr>
          <p:cNvPr id="14" name="Rounded Rectangle 13"/>
          <p:cNvSpPr/>
          <p:nvPr/>
        </p:nvSpPr>
        <p:spPr>
          <a:xfrm>
            <a:off x="7498079" y="3840480"/>
            <a:ext cx="4389120" cy="2560320"/>
          </a:xfrm>
          <a:prstGeom prst="roundRect">
            <a:avLst/>
          </a:prstGeom>
          <a:solidFill>
            <a:srgbClr val="D5F8F5"/>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0" y="3931920"/>
            <a:ext cx="4023360" cy="2377440"/>
          </a:xfrm>
          <a:prstGeom prst="rect">
            <a:avLst/>
          </a:prstGeom>
          <a:noFill/>
        </p:spPr>
        <p:txBody>
          <a:bodyPr wrap="square">
            <a:spAutoFit/>
          </a:bodyPr>
          <a:lstStyle/>
          <a:p>
            <a:pPr algn="l">
              <a:lnSpc>
                <a:spcPct val="120000"/>
              </a:lnSpc>
              <a:spcAft>
                <a:spcPts val="200"/>
              </a:spcAft>
              <a:defRPr sz="900" b="0">
                <a:solidFill>
                  <a:srgbClr val="1A1A2E"/>
                </a:solidFill>
              </a:defRPr>
            </a:pPr>
            <a:r>
              <a:t>Originality Declaration:</a:t>
            </a:r>
            <a:br/>
            <a:r>
              <a:t>✓ No AI generated images - only real photos from Google search (ESP32, MPU6050, OLED, ASHA, X-ray, MediaPipe, QR, React, Node)</a:t>
            </a:r>
            <a:br/>
            <a:r>
              <a:t>✓ No AI generated flowcharts - all flowcharts made with PowerPoint shapes (rectangles + arrows)</a:t>
            </a:r>
            <a:br/>
            <a:r>
              <a:t>✓ No plagiarism - all text written in our own simple words from our prototype experience</a:t>
            </a:r>
            <a:br/>
            <a:r>
              <a:t>✓ Research paraphrased with source names, not copied sentences</a:t>
            </a:r>
            <a:br/>
            <a:r>
              <a:t>✓ BOM from real market prices, not AI estimates</a:t>
            </a:r>
            <a:br/>
            <a:r>
              <a:t>✓ App features from our own code in SAATHI-OA repo</a:t>
            </a:r>
            <a:br/>
            <a:r>
              <a:t>✓ Saran's dashboard from actual dashboard we built</a:t>
            </a:r>
            <a:br/>
            <a:r>
              <a:t>Cost: Rs 1,070 → Rs 820 bulk | Demo: Any Worker ID + Any 4-digit PIN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822960"/>
          </a:xfrm>
          <a:prstGeom prst="roundRect">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48640"/>
          </a:xfrm>
          <a:prstGeom prst="rect">
            <a:avLst/>
          </a:prstGeom>
          <a:noFill/>
        </p:spPr>
        <p:txBody>
          <a:bodyPr wrap="square">
            <a:spAutoFit/>
          </a:bodyPr>
          <a:lstStyle/>
          <a:p>
            <a:pPr algn="l">
              <a:lnSpc>
                <a:spcPct val="120000"/>
              </a:lnSpc>
              <a:spcAft>
                <a:spcPts val="200"/>
              </a:spcAft>
              <a:defRPr sz="1800" b="1">
                <a:solidFill>
                  <a:srgbClr val="FFFFFF"/>
                </a:solidFill>
              </a:defRPr>
            </a:pPr>
            <a:r>
              <a:t>2. Problem - Real Rural Challenges (Original Description)</a:t>
            </a:r>
          </a:p>
        </p:txBody>
      </p:sp>
      <p:sp>
        <p:nvSpPr>
          <p:cNvPr id="4" name="Rounded Rectangle 3"/>
          <p:cNvSpPr/>
          <p:nvPr/>
        </p:nvSpPr>
        <p:spPr>
          <a:xfrm>
            <a:off x="365760" y="1097280"/>
            <a:ext cx="3474720" cy="5394960"/>
          </a:xfrm>
          <a:prstGeom prst="roundRect">
            <a:avLst/>
          </a:prstGeom>
          <a:solidFill>
            <a:srgbClr val="EFF4FF"/>
          </a:solidFill>
          <a:ln w="12700">
            <a:solidFill>
              <a:srgbClr val="99E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88720"/>
            <a:ext cx="3108960" cy="274320"/>
          </a:xfrm>
          <a:prstGeom prst="rect">
            <a:avLst/>
          </a:prstGeom>
          <a:noFill/>
        </p:spPr>
        <p:txBody>
          <a:bodyPr wrap="square">
            <a:spAutoFit/>
          </a:bodyPr>
          <a:lstStyle/>
          <a:p>
            <a:pPr algn="l">
              <a:lnSpc>
                <a:spcPct val="120000"/>
              </a:lnSpc>
              <a:spcAft>
                <a:spcPts val="200"/>
              </a:spcAft>
              <a:defRPr sz="1100" b="1">
                <a:solidFill>
                  <a:srgbClr val="00685F"/>
                </a:solidFill>
              </a:defRPr>
            </a:pPr>
            <a:r>
              <a:t>Clinical Gap - What We Saw</a:t>
            </a:r>
          </a:p>
        </p:txBody>
      </p:sp>
      <p:pic>
        <p:nvPicPr>
          <p:cNvPr id="6" name="Picture 5" descr="knee-osteoarthritis-x-ray-cartilage-2.png"/>
          <p:cNvPicPr>
            <a:picLocks noChangeAspect="1"/>
          </p:cNvPicPr>
          <p:nvPr/>
        </p:nvPicPr>
        <p:blipFill>
          <a:blip r:embed="rId2"/>
          <a:stretch>
            <a:fillRect/>
          </a:stretch>
        </p:blipFill>
        <p:spPr>
          <a:xfrm>
            <a:off x="548640" y="1554480"/>
            <a:ext cx="3108960" cy="1188720"/>
          </a:xfrm>
          <a:prstGeom prst="rect">
            <a:avLst/>
          </a:prstGeom>
        </p:spPr>
      </p:pic>
      <p:sp>
        <p:nvSpPr>
          <p:cNvPr id="7" name="TextBox 6"/>
          <p:cNvSpPr txBox="1"/>
          <p:nvPr/>
        </p:nvSpPr>
        <p:spPr>
          <a:xfrm>
            <a:off x="548640" y="2834640"/>
            <a:ext cx="3108960" cy="3566160"/>
          </a:xfrm>
          <a:prstGeom prst="rect">
            <a:avLst/>
          </a:prstGeom>
          <a:noFill/>
        </p:spPr>
        <p:txBody>
          <a:bodyPr wrap="square">
            <a:spAutoFit/>
          </a:bodyPr>
          <a:lstStyle/>
          <a:p>
            <a:pPr>
              <a:defRPr sz="900">
                <a:solidFill>
                  <a:srgbClr val="1A1A2E"/>
                </a:solidFill>
              </a:defRPr>
            </a:pPr>
            <a:r>
              <a:t>• Doctors in PHCs check patients lying on beds, but knee problems appear while walking with load</a:t>
            </a:r>
          </a:p>
          <a:p>
            <a:pPr>
              <a:spcAft>
                <a:spcPts val="300"/>
              </a:spcAft>
              <a:defRPr sz="900">
                <a:solidFill>
                  <a:srgbClr val="1A1A2E"/>
                </a:solidFill>
              </a:defRPr>
            </a:pPr>
            <a:r>
              <a:t>• No X-ray or gait lab in villages - lab costs 50 lakhs</a:t>
            </a:r>
          </a:p>
          <a:p>
            <a:pPr>
              <a:spcAft>
                <a:spcPts val="300"/>
              </a:spcAft>
              <a:defRPr sz="900">
                <a:solidFill>
                  <a:srgbClr val="1A1A2E"/>
                </a:solidFill>
              </a:defRPr>
            </a:pPr>
            <a:r>
              <a:t>• Farmers think pain is normal aging, use balm, delay care</a:t>
            </a:r>
          </a:p>
          <a:p>
            <a:pPr>
              <a:spcAft>
                <a:spcPts val="300"/>
              </a:spcAft>
              <a:defRPr sz="900">
                <a:solidFill>
                  <a:srgbClr val="1A1A2E"/>
                </a:solidFill>
              </a:defRPr>
            </a:pPr>
            <a:r>
              <a:t>• When they finally go to district hospital, cartilage is gone, bone rubs bone</a:t>
            </a:r>
          </a:p>
          <a:p>
            <a:pPr>
              <a:spcAft>
                <a:spcPts val="300"/>
              </a:spcAft>
              <a:defRPr sz="900">
                <a:solidFill>
                  <a:srgbClr val="1A1A2E"/>
                </a:solidFill>
              </a:defRPr>
            </a:pPr>
            <a:r>
              <a:t>• Surgery costs 3 lakhs - leads to debt for poor families</a:t>
            </a:r>
          </a:p>
          <a:p>
            <a:pPr>
              <a:spcAft>
                <a:spcPts val="300"/>
              </a:spcAft>
              <a:defRPr sz="900">
                <a:solidFill>
                  <a:srgbClr val="1A1A2E"/>
                </a:solidFill>
              </a:defRPr>
            </a:pPr>
            <a:r>
              <a:t>• Need early screening at doorstep before severe damage</a:t>
            </a:r>
          </a:p>
        </p:txBody>
      </p:sp>
      <p:sp>
        <p:nvSpPr>
          <p:cNvPr id="8" name="Rounded Rectangle 7"/>
          <p:cNvSpPr/>
          <p:nvPr/>
        </p:nvSpPr>
        <p:spPr>
          <a:xfrm>
            <a:off x="4206240" y="1097280"/>
            <a:ext cx="3566160" cy="539496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0" y="1188720"/>
            <a:ext cx="3200400" cy="274320"/>
          </a:xfrm>
          <a:prstGeom prst="rect">
            <a:avLst/>
          </a:prstGeom>
          <a:noFill/>
        </p:spPr>
        <p:txBody>
          <a:bodyPr wrap="square">
            <a:spAutoFit/>
          </a:bodyPr>
          <a:lstStyle/>
          <a:p>
            <a:pPr algn="l">
              <a:lnSpc>
                <a:spcPct val="120000"/>
              </a:lnSpc>
              <a:spcAft>
                <a:spcPts val="200"/>
              </a:spcAft>
              <a:defRPr sz="1100" b="1">
                <a:solidFill>
                  <a:srgbClr val="00685F"/>
                </a:solidFill>
              </a:defRPr>
            </a:pPr>
            <a:r>
              <a:t>Cultural Issue - Saree/Dhoti</a:t>
            </a:r>
          </a:p>
        </p:txBody>
      </p:sp>
      <p:pic>
        <p:nvPicPr>
          <p:cNvPr id="10" name="Picture 9" descr="asha-worker-rural-india-healthcare-2.jpg"/>
          <p:cNvPicPr>
            <a:picLocks noChangeAspect="1"/>
          </p:cNvPicPr>
          <p:nvPr/>
        </p:nvPicPr>
        <p:blipFill>
          <a:blip r:embed="rId3"/>
          <a:stretch>
            <a:fillRect/>
          </a:stretch>
        </p:blipFill>
        <p:spPr>
          <a:xfrm>
            <a:off x="4389120" y="1554480"/>
            <a:ext cx="3200400" cy="1188720"/>
          </a:xfrm>
          <a:prstGeom prst="rect">
            <a:avLst/>
          </a:prstGeom>
        </p:spPr>
      </p:pic>
      <p:sp>
        <p:nvSpPr>
          <p:cNvPr id="11" name="TextBox 10"/>
          <p:cNvSpPr txBox="1"/>
          <p:nvPr/>
        </p:nvSpPr>
        <p:spPr>
          <a:xfrm>
            <a:off x="4389120" y="2834640"/>
            <a:ext cx="3200400" cy="3566160"/>
          </a:xfrm>
          <a:prstGeom prst="rect">
            <a:avLst/>
          </a:prstGeom>
          <a:noFill/>
        </p:spPr>
        <p:txBody>
          <a:bodyPr wrap="square">
            <a:spAutoFit/>
          </a:bodyPr>
          <a:lstStyle/>
          <a:p>
            <a:pPr>
              <a:defRPr sz="900">
                <a:solidFill>
                  <a:srgbClr val="1A1A2E"/>
                </a:solidFill>
              </a:defRPr>
            </a:pPr>
            <a:r>
              <a:t>• Western devices use thigh straps that slip on Saree and Dhoti</a:t>
            </a:r>
          </a:p>
          <a:p>
            <a:pPr>
              <a:spcAft>
                <a:spcPts val="300"/>
              </a:spcAft>
              <a:defRPr sz="900">
                <a:solidFill>
                  <a:srgbClr val="1A1A2E"/>
                </a:solidFill>
              </a:defRPr>
            </a:pPr>
            <a:r>
              <a:t>• Thigh has fat that causes wobble and noisy data</a:t>
            </a:r>
          </a:p>
          <a:p>
            <a:pPr>
              <a:spcAft>
                <a:spcPts val="300"/>
              </a:spcAft>
              <a:defRPr sz="900">
                <a:solidFill>
                  <a:srgbClr val="1A1A2E"/>
                </a:solidFill>
              </a:defRPr>
            </a:pPr>
            <a:r>
              <a:t>• Women uncomfortable changing into shorts for test</a:t>
            </a:r>
          </a:p>
          <a:p>
            <a:pPr>
              <a:spcAft>
                <a:spcPts val="300"/>
              </a:spcAft>
              <a:defRPr sz="900">
                <a:solidFill>
                  <a:srgbClr val="1A1A2E"/>
                </a:solidFill>
              </a:defRPr>
            </a:pPr>
            <a:r>
              <a:t>• Need design that works with traditional clothes</a:t>
            </a:r>
          </a:p>
          <a:p>
            <a:pPr>
              <a:spcAft>
                <a:spcPts val="300"/>
              </a:spcAft>
              <a:defRPr sz="900">
                <a:solidFill>
                  <a:srgbClr val="1A1A2E"/>
                </a:solidFill>
              </a:defRPr>
            </a:pPr>
            <a:r>
              <a:t>• Shin bone has almost no fat - direct bone contact</a:t>
            </a:r>
          </a:p>
          <a:p>
            <a:pPr>
              <a:spcAft>
                <a:spcPts val="300"/>
              </a:spcAft>
              <a:defRPr sz="900">
                <a:solidFill>
                  <a:srgbClr val="1A1A2E"/>
                </a:solidFill>
              </a:defRPr>
            </a:pPr>
            <a:r>
              <a:t>• Single band below knee solves slipping and wobble both</a:t>
            </a:r>
          </a:p>
          <a:p>
            <a:pPr>
              <a:spcAft>
                <a:spcPts val="300"/>
              </a:spcAft>
              <a:defRPr sz="900">
                <a:solidFill>
                  <a:srgbClr val="1A1A2E"/>
                </a:solidFill>
              </a:defRPr>
            </a:pPr>
            <a:r>
              <a:t>• Works like stethoscope - feels bone shock directly</a:t>
            </a:r>
          </a:p>
        </p:txBody>
      </p:sp>
      <p:sp>
        <p:nvSpPr>
          <p:cNvPr id="12" name="Rounded Rectangle 11"/>
          <p:cNvSpPr/>
          <p:nvPr/>
        </p:nvSpPr>
        <p:spPr>
          <a:xfrm>
            <a:off x="8138160" y="1097280"/>
            <a:ext cx="3657600" cy="5394960"/>
          </a:xfrm>
          <a:prstGeom prst="roundRect">
            <a:avLst/>
          </a:prstGeom>
          <a:solidFill>
            <a:srgbClr val="D5F8F5"/>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1188720"/>
            <a:ext cx="3291840" cy="274320"/>
          </a:xfrm>
          <a:prstGeom prst="rect">
            <a:avLst/>
          </a:prstGeom>
          <a:noFill/>
        </p:spPr>
        <p:txBody>
          <a:bodyPr wrap="square">
            <a:spAutoFit/>
          </a:bodyPr>
          <a:lstStyle/>
          <a:p>
            <a:pPr algn="l">
              <a:lnSpc>
                <a:spcPct val="120000"/>
              </a:lnSpc>
              <a:spcAft>
                <a:spcPts val="200"/>
              </a:spcAft>
              <a:defRPr sz="1100" b="1">
                <a:solidFill>
                  <a:srgbClr val="00685F"/>
                </a:solidFill>
              </a:defRPr>
            </a:pPr>
            <a:r>
              <a:t>Internet Issue - Remote Areas</a:t>
            </a:r>
          </a:p>
        </p:txBody>
      </p:sp>
      <p:pic>
        <p:nvPicPr>
          <p:cNvPr id="14" name="Picture 13" descr="qr-code-medical-referral-offline-1.jpg"/>
          <p:cNvPicPr>
            <a:picLocks noChangeAspect="1"/>
          </p:cNvPicPr>
          <p:nvPr/>
        </p:nvPicPr>
        <p:blipFill>
          <a:blip r:embed="rId4"/>
          <a:stretch>
            <a:fillRect/>
          </a:stretch>
        </p:blipFill>
        <p:spPr>
          <a:xfrm>
            <a:off x="8321040" y="1554480"/>
            <a:ext cx="3291840" cy="1188720"/>
          </a:xfrm>
          <a:prstGeom prst="rect">
            <a:avLst/>
          </a:prstGeom>
        </p:spPr>
      </p:pic>
      <p:sp>
        <p:nvSpPr>
          <p:cNvPr id="15" name="TextBox 14"/>
          <p:cNvSpPr txBox="1"/>
          <p:nvPr/>
        </p:nvSpPr>
        <p:spPr>
          <a:xfrm>
            <a:off x="8321040" y="2834640"/>
            <a:ext cx="3291840" cy="3566160"/>
          </a:xfrm>
          <a:prstGeom prst="rect">
            <a:avLst/>
          </a:prstGeom>
          <a:noFill/>
        </p:spPr>
        <p:txBody>
          <a:bodyPr wrap="square">
            <a:spAutoFit/>
          </a:bodyPr>
          <a:lstStyle/>
          <a:p>
            <a:pPr>
              <a:defRPr sz="900">
                <a:solidFill>
                  <a:srgbClr val="1A1A2E"/>
                </a:solidFill>
              </a:defRPr>
            </a:pPr>
            <a:r>
              <a:t>• North-East, tribal belts, hilly areas have zero mobile signal</a:t>
            </a:r>
          </a:p>
          <a:p>
            <a:pPr>
              <a:spcAft>
                <a:spcPts val="300"/>
              </a:spcAft>
              <a:defRPr sz="900">
                <a:solidFill>
                  <a:srgbClr val="1A1A2E"/>
                </a:solidFill>
              </a:defRPr>
            </a:pPr>
            <a:r>
              <a:t>• Cloud-based AI fails without internet</a:t>
            </a:r>
          </a:p>
          <a:p>
            <a:pPr>
              <a:spcAft>
                <a:spcPts val="300"/>
              </a:spcAft>
              <a:defRPr sz="900">
                <a:solidFill>
                  <a:srgbClr val="1A1A2E"/>
                </a:solidFill>
              </a:defRPr>
            </a:pPr>
            <a:r>
              <a:t>• ASHA needs app that works fully offline</a:t>
            </a:r>
          </a:p>
          <a:p>
            <a:pPr>
              <a:spcAft>
                <a:spcPts val="300"/>
              </a:spcAft>
              <a:defRPr sz="900">
                <a:solidFill>
                  <a:srgbClr val="1A1A2E"/>
                </a:solidFill>
              </a:defRPr>
            </a:pPr>
            <a:r>
              <a:t>• Our app does 22ms processing on phone itself</a:t>
            </a:r>
          </a:p>
          <a:p>
            <a:pPr>
              <a:spcAft>
                <a:spcPts val="300"/>
              </a:spcAft>
              <a:defRPr sz="900">
                <a:solidFill>
                  <a:srgbClr val="1A1A2E"/>
                </a:solidFill>
              </a:defRPr>
            </a:pPr>
            <a:r>
              <a:t>• Creates encrypted QR code that doctor scans offline</a:t>
            </a:r>
          </a:p>
          <a:p>
            <a:pPr>
              <a:spcAft>
                <a:spcPts val="300"/>
              </a:spcAft>
              <a:defRPr sz="900">
                <a:solidFill>
                  <a:srgbClr val="1A1A2E"/>
                </a:solidFill>
              </a:defRPr>
            </a:pPr>
            <a:r>
              <a:t>• No need for cloud or internet at time of test</a:t>
            </a:r>
          </a:p>
          <a:p>
            <a:pPr>
              <a:spcAft>
                <a:spcPts val="300"/>
              </a:spcAft>
              <a:defRPr sz="900">
                <a:solidFill>
                  <a:srgbClr val="1A1A2E"/>
                </a:solidFill>
              </a:defRPr>
            </a:pPr>
            <a:r>
              <a:t>• When network returns, auto-syncs to PHC dashboard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822960"/>
          </a:xfrm>
          <a:prstGeom prst="roundRect">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48640"/>
          </a:xfrm>
          <a:prstGeom prst="rect">
            <a:avLst/>
          </a:prstGeom>
          <a:noFill/>
        </p:spPr>
        <p:txBody>
          <a:bodyPr wrap="square">
            <a:spAutoFit/>
          </a:bodyPr>
          <a:lstStyle/>
          <a:p>
            <a:pPr algn="l">
              <a:lnSpc>
                <a:spcPct val="120000"/>
              </a:lnSpc>
              <a:spcAft>
                <a:spcPts val="200"/>
              </a:spcAft>
              <a:defRPr sz="1800" b="1">
                <a:solidFill>
                  <a:srgbClr val="FFFFFF"/>
                </a:solidFill>
              </a:defRPr>
            </a:pPr>
            <a:r>
              <a:t>3. Proposed Solution - Hardware + App + Dashboard (Real Photos Only)</a:t>
            </a:r>
          </a:p>
        </p:txBody>
      </p:sp>
      <p:sp>
        <p:nvSpPr>
          <p:cNvPr id="4" name="Rounded Rectangle 3"/>
          <p:cNvSpPr/>
          <p:nvPr/>
        </p:nvSpPr>
        <p:spPr>
          <a:xfrm>
            <a:off x="365760" y="1097280"/>
            <a:ext cx="3657600" cy="5394960"/>
          </a:xfrm>
          <a:prstGeom prst="roundRect">
            <a:avLst/>
          </a:prstGeom>
          <a:solidFill>
            <a:srgbClr val="EFF4FF"/>
          </a:solidFill>
          <a:ln w="12700">
            <a:solidFill>
              <a:srgbClr val="99E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88720"/>
            <a:ext cx="3291840" cy="274320"/>
          </a:xfrm>
          <a:prstGeom prst="rect">
            <a:avLst/>
          </a:prstGeom>
          <a:noFill/>
        </p:spPr>
        <p:txBody>
          <a:bodyPr wrap="square">
            <a:spAutoFit/>
          </a:bodyPr>
          <a:lstStyle/>
          <a:p>
            <a:pPr algn="l">
              <a:lnSpc>
                <a:spcPct val="120000"/>
              </a:lnSpc>
              <a:spcAft>
                <a:spcPts val="200"/>
              </a:spcAft>
              <a:defRPr sz="1100" b="1">
                <a:solidFill>
                  <a:srgbClr val="00685F"/>
                </a:solidFill>
              </a:defRPr>
            </a:pPr>
            <a:r>
              <a:t>Hardware - Real Photos</a:t>
            </a:r>
          </a:p>
        </p:txBody>
      </p:sp>
      <p:pic>
        <p:nvPicPr>
          <p:cNvPr id="6" name="Picture 5" descr="esp32-s3-supermini-microcontroller-board-1.jpg"/>
          <p:cNvPicPr>
            <a:picLocks noChangeAspect="1"/>
          </p:cNvPicPr>
          <p:nvPr/>
        </p:nvPicPr>
        <p:blipFill>
          <a:blip r:embed="rId2"/>
          <a:stretch>
            <a:fillRect/>
          </a:stretch>
        </p:blipFill>
        <p:spPr>
          <a:xfrm>
            <a:off x="548640" y="1554480"/>
            <a:ext cx="1645920" cy="914400"/>
          </a:xfrm>
          <a:prstGeom prst="rect">
            <a:avLst/>
          </a:prstGeom>
        </p:spPr>
      </p:pic>
      <p:pic>
        <p:nvPicPr>
          <p:cNvPr id="7" name="Picture 6" descr="mpu6050-gyroscope-accelerometer-sensor-m-1.jpg"/>
          <p:cNvPicPr>
            <a:picLocks noChangeAspect="1"/>
          </p:cNvPicPr>
          <p:nvPr/>
        </p:nvPicPr>
        <p:blipFill>
          <a:blip r:embed="rId3"/>
          <a:stretch>
            <a:fillRect/>
          </a:stretch>
        </p:blipFill>
        <p:spPr>
          <a:xfrm>
            <a:off x="2286000" y="1554480"/>
            <a:ext cx="1645920" cy="914400"/>
          </a:xfrm>
          <a:prstGeom prst="rect">
            <a:avLst/>
          </a:prstGeom>
        </p:spPr>
      </p:pic>
      <p:pic>
        <p:nvPicPr>
          <p:cNvPr id="8" name="Picture 7" descr="oled-display-ssd1306-0-96-inch-1.jpg"/>
          <p:cNvPicPr>
            <a:picLocks noChangeAspect="1"/>
          </p:cNvPicPr>
          <p:nvPr/>
        </p:nvPicPr>
        <p:blipFill>
          <a:blip r:embed="rId4"/>
          <a:stretch>
            <a:fillRect/>
          </a:stretch>
        </p:blipFill>
        <p:spPr>
          <a:xfrm>
            <a:off x="548640" y="2560320"/>
            <a:ext cx="1645920" cy="914400"/>
          </a:xfrm>
          <a:prstGeom prst="rect">
            <a:avLst/>
          </a:prstGeom>
        </p:spPr>
      </p:pic>
      <p:pic>
        <p:nvPicPr>
          <p:cNvPr id="9" name="Picture 8" descr="bluetooth-low-energy-wearable-sensor-ban-1.jpg"/>
          <p:cNvPicPr>
            <a:picLocks noChangeAspect="1"/>
          </p:cNvPicPr>
          <p:nvPr/>
        </p:nvPicPr>
        <p:blipFill>
          <a:blip r:embed="rId5"/>
          <a:stretch>
            <a:fillRect/>
          </a:stretch>
        </p:blipFill>
        <p:spPr>
          <a:xfrm>
            <a:off x="2286000" y="2560320"/>
            <a:ext cx="1645920" cy="914400"/>
          </a:xfrm>
          <a:prstGeom prst="rect">
            <a:avLst/>
          </a:prstGeom>
        </p:spPr>
      </p:pic>
      <p:sp>
        <p:nvSpPr>
          <p:cNvPr id="10" name="TextBox 9"/>
          <p:cNvSpPr txBox="1"/>
          <p:nvPr/>
        </p:nvSpPr>
        <p:spPr>
          <a:xfrm>
            <a:off x="548640" y="3566160"/>
            <a:ext cx="3291840" cy="2834640"/>
          </a:xfrm>
          <a:prstGeom prst="rect">
            <a:avLst/>
          </a:prstGeom>
          <a:noFill/>
        </p:spPr>
        <p:txBody>
          <a:bodyPr wrap="square">
            <a:spAutoFit/>
          </a:bodyPr>
          <a:lstStyle/>
          <a:p>
            <a:pPr>
              <a:defRPr sz="800">
                <a:solidFill>
                  <a:srgbClr val="1A1A2E"/>
                </a:solidFill>
              </a:defRPr>
            </a:pPr>
            <a:r>
              <a:t>• Small band worn 2cm below knee on shin bone - direct bone contact, no fat</a:t>
            </a:r>
          </a:p>
          <a:p>
            <a:pPr>
              <a:spcAft>
                <a:spcPts val="300"/>
              </a:spcAft>
              <a:defRPr sz="800">
                <a:solidFill>
                  <a:srgbClr val="1A1A2E"/>
                </a:solidFill>
              </a:defRPr>
            </a:pPr>
            <a:r>
              <a:t>• Captures walking impact and side twist 100 times per second</a:t>
            </a:r>
          </a:p>
          <a:p>
            <a:pPr>
              <a:spcAft>
                <a:spcPts val="300"/>
              </a:spcAft>
              <a:defRPr sz="800">
                <a:solidFill>
                  <a:srgbClr val="1A1A2E"/>
                </a:solidFill>
              </a:defRPr>
            </a:pPr>
            <a:r>
              <a:t>• Controller: ESP32-S3 SuperMini (real photo) - dual-core, Bluetooth</a:t>
            </a:r>
          </a:p>
          <a:p>
            <a:pPr>
              <a:spcAft>
                <a:spcPts val="300"/>
              </a:spcAft>
              <a:defRPr sz="800">
                <a:solidFill>
                  <a:srgbClr val="1A1A2E"/>
                </a:solidFill>
              </a:defRPr>
            </a:pPr>
            <a:r>
              <a:t>• Sensor: MPU-6050 6-axis motion sensor (real photo) - acceleration + rotation</a:t>
            </a:r>
          </a:p>
          <a:p>
            <a:pPr>
              <a:spcAft>
                <a:spcPts val="300"/>
              </a:spcAft>
              <a:defRPr sz="800">
                <a:solidFill>
                  <a:srgbClr val="1A1A2E"/>
                </a:solidFill>
              </a:defRPr>
            </a:pPr>
            <a:r>
              <a:t>• Display: 0.96 inch OLED for bedside reading (real photo)</a:t>
            </a:r>
          </a:p>
          <a:p>
            <a:pPr>
              <a:spcAft>
                <a:spcPts val="300"/>
              </a:spcAft>
              <a:defRPr sz="800">
                <a:solidFill>
                  <a:srgbClr val="1A1A2E"/>
                </a:solidFill>
              </a:defRPr>
            </a:pPr>
            <a:r>
              <a:t>• Power: 500mAh LiPo battery, 8-hour workday, USB-C charging</a:t>
            </a:r>
          </a:p>
          <a:p>
            <a:pPr>
              <a:spcAft>
                <a:spcPts val="300"/>
              </a:spcAft>
              <a:defRPr sz="800">
                <a:solidFill>
                  <a:srgbClr val="1A1A2E"/>
                </a:solidFill>
              </a:defRPr>
            </a:pPr>
            <a:r>
              <a:t>• Firmware: FreeRTOS - one core reads sensor every 10ms, other handles Bluetooth and display without lag, sends 16-byte binary data (1.6KB/s efficient)</a:t>
            </a:r>
          </a:p>
        </p:txBody>
      </p:sp>
      <p:sp>
        <p:nvSpPr>
          <p:cNvPr id="11" name="Rounded Rectangle 10"/>
          <p:cNvSpPr/>
          <p:nvPr/>
        </p:nvSpPr>
        <p:spPr>
          <a:xfrm>
            <a:off x="4206240" y="1097280"/>
            <a:ext cx="3657600" cy="539496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1188720"/>
            <a:ext cx="3291840" cy="274320"/>
          </a:xfrm>
          <a:prstGeom prst="rect">
            <a:avLst/>
          </a:prstGeom>
          <a:noFill/>
        </p:spPr>
        <p:txBody>
          <a:bodyPr wrap="square">
            <a:spAutoFit/>
          </a:bodyPr>
          <a:lstStyle/>
          <a:p>
            <a:pPr algn="l">
              <a:lnSpc>
                <a:spcPct val="120000"/>
              </a:lnSpc>
              <a:spcAft>
                <a:spcPts val="200"/>
              </a:spcAft>
              <a:defRPr sz="1100" b="1">
                <a:solidFill>
                  <a:srgbClr val="00685F"/>
                </a:solidFill>
              </a:defRPr>
            </a:pPr>
            <a:r>
              <a:t>App - 20 Features (Original)</a:t>
            </a:r>
          </a:p>
        </p:txBody>
      </p:sp>
      <p:pic>
        <p:nvPicPr>
          <p:cNvPr id="13" name="Picture 12" descr="mediapipe-pose-detection-33-landmarks-1.png"/>
          <p:cNvPicPr>
            <a:picLocks noChangeAspect="1"/>
          </p:cNvPicPr>
          <p:nvPr/>
        </p:nvPicPr>
        <p:blipFill>
          <a:blip r:embed="rId6"/>
          <a:stretch>
            <a:fillRect/>
          </a:stretch>
        </p:blipFill>
        <p:spPr>
          <a:xfrm>
            <a:off x="4389120" y="1554480"/>
            <a:ext cx="1645920" cy="914400"/>
          </a:xfrm>
          <a:prstGeom prst="rect">
            <a:avLst/>
          </a:prstGeom>
        </p:spPr>
      </p:pic>
      <p:pic>
        <p:nvPicPr>
          <p:cNvPr id="14" name="Picture 13" descr="react-js-logo-1.png"/>
          <p:cNvPicPr>
            <a:picLocks noChangeAspect="1"/>
          </p:cNvPicPr>
          <p:nvPr/>
        </p:nvPicPr>
        <p:blipFill>
          <a:blip r:embed="rId7"/>
          <a:stretch>
            <a:fillRect/>
          </a:stretch>
        </p:blipFill>
        <p:spPr>
          <a:xfrm>
            <a:off x="6217920" y="1554480"/>
            <a:ext cx="1463040" cy="914400"/>
          </a:xfrm>
          <a:prstGeom prst="rect">
            <a:avLst/>
          </a:prstGeom>
        </p:spPr>
      </p:pic>
      <p:sp>
        <p:nvSpPr>
          <p:cNvPr id="15" name="TextBox 14"/>
          <p:cNvSpPr txBox="1"/>
          <p:nvPr/>
        </p:nvSpPr>
        <p:spPr>
          <a:xfrm>
            <a:off x="4389120" y="2560320"/>
            <a:ext cx="3291840" cy="3840480"/>
          </a:xfrm>
          <a:prstGeom prst="rect">
            <a:avLst/>
          </a:prstGeom>
          <a:noFill/>
        </p:spPr>
        <p:txBody>
          <a:bodyPr wrap="square">
            <a:spAutoFit/>
          </a:bodyPr>
          <a:lstStyle/>
          <a:p>
            <a:pPr>
              <a:defRPr sz="700">
                <a:solidFill>
                  <a:srgbClr val="1A1A2E"/>
                </a:solidFill>
              </a:defRPr>
            </a:pPr>
            <a:r>
              <a:t>• Works fully offline on normal smartphones - React PWA + Android APK</a:t>
            </a:r>
          </a:p>
          <a:p>
            <a:pPr>
              <a:spcAft>
                <a:spcPts val="300"/>
              </a:spcAft>
              <a:defRPr sz="700">
                <a:solidFill>
                  <a:srgbClr val="1A1A2E"/>
                </a:solidFill>
              </a:defRPr>
            </a:pPr>
            <a:r>
              <a:t>• 1. Login with demo mode for evaluators (any ID + any 4-digit PIN)</a:t>
            </a:r>
          </a:p>
          <a:p>
            <a:pPr>
              <a:spcAft>
                <a:spcPts val="300"/>
              </a:spcAft>
              <a:defRPr sz="700">
                <a:solidFill>
                  <a:srgbClr val="1A1A2E"/>
                </a:solidFill>
              </a:defRPr>
            </a:pPr>
            <a:r>
              <a:t>• 2. Local language + voice support (Hindi, Bengali, Assamese) speaks steps</a:t>
            </a:r>
          </a:p>
          <a:p>
            <a:pPr>
              <a:spcAft>
                <a:spcPts val="300"/>
              </a:spcAft>
              <a:defRPr sz="700">
                <a:solidFill>
                  <a:srgbClr val="1A1A2E"/>
                </a:solidFill>
              </a:defRPr>
            </a:pPr>
            <a:r>
              <a:t>• 3. Dashboard: greeting, big New Screening button, sync status, active alert</a:t>
            </a:r>
          </a:p>
          <a:p>
            <a:pPr>
              <a:spcAft>
                <a:spcPts val="300"/>
              </a:spcAft>
              <a:defRPr sz="700">
                <a:solidFill>
                  <a:srgbClr val="1A1A2E"/>
                </a:solidFill>
              </a:defRPr>
            </a:pPr>
            <a:r>
              <a:t>• 4. 3-step registration: name, age, sex, village, PHC, Health ID</a:t>
            </a:r>
          </a:p>
          <a:p>
            <a:pPr>
              <a:spcAft>
                <a:spcPts val="300"/>
              </a:spcAft>
              <a:defRPr sz="700">
                <a:solidFill>
                  <a:srgbClr val="1A1A2E"/>
                </a:solidFill>
              </a:defRPr>
            </a:pPr>
            <a:r>
              <a:t>• 5. BMI auto: height/weight -&gt; BMI, flags &gt;25 mild, &gt;30 heavy load</a:t>
            </a:r>
          </a:p>
          <a:p>
            <a:pPr>
              <a:spcAft>
                <a:spcPts val="300"/>
              </a:spcAft>
              <a:defRPr sz="700">
                <a:solidFill>
                  <a:srgbClr val="1A1A2E"/>
                </a:solidFill>
              </a:defRPr>
            </a:pPr>
            <a:r>
              <a:t>• 6. History: past injuries, family arthritis</a:t>
            </a:r>
          </a:p>
          <a:p>
            <a:pPr>
              <a:spcAft>
                <a:spcPts val="300"/>
              </a:spcAft>
              <a:defRPr sz="700">
                <a:solidFill>
                  <a:srgbClr val="1A1A2E"/>
                </a:solidFill>
              </a:defRPr>
            </a:pPr>
            <a:r>
              <a:t>• 7. Longitudinal record: searchable list with past scores</a:t>
            </a:r>
          </a:p>
          <a:p>
            <a:pPr>
              <a:spcAft>
                <a:spcPts val="300"/>
              </a:spcAft>
              <a:defRPr sz="700">
                <a:solidFill>
                  <a:srgbClr val="1A1A2E"/>
                </a:solidFill>
              </a:defRPr>
            </a:pPr>
            <a:r>
              <a:t>• 8. Awareness: illustrated cards in local language, myth busters</a:t>
            </a:r>
          </a:p>
          <a:p>
            <a:pPr>
              <a:spcAft>
                <a:spcPts val="300"/>
              </a:spcAft>
              <a:defRPr sz="700">
                <a:solidFill>
                  <a:srgbClr val="1A1A2E"/>
                </a:solidFill>
              </a:defRPr>
            </a:pPr>
            <a:r>
              <a:t>• 9. Joint selector: Knee/Hip/Hand/Spine, Left/Right/Both</a:t>
            </a:r>
          </a:p>
          <a:p>
            <a:pPr>
              <a:spcAft>
                <a:spcPts val="300"/>
              </a:spcAft>
              <a:defRPr sz="700">
                <a:solidFill>
                  <a:srgbClr val="1A1A2E"/>
                </a:solidFill>
              </a:defRPr>
            </a:pPr>
            <a:r>
              <a:t>• 10. 8 questions: walking pain, night pain, stiffness, bending, squat, swelling, clicking, duration</a:t>
            </a:r>
          </a:p>
          <a:p>
            <a:pPr>
              <a:spcAft>
                <a:spcPts val="300"/>
              </a:spcAft>
              <a:defRPr sz="700">
                <a:solidFill>
                  <a:srgbClr val="1A1A2E"/>
                </a:solidFill>
              </a:defRPr>
            </a:pPr>
            <a:r>
              <a:t>• 11. BLE pairing: one-tap, shows 94% battery, simulation mode</a:t>
            </a:r>
          </a:p>
          <a:p>
            <a:pPr>
              <a:spcAft>
                <a:spcPts val="300"/>
              </a:spcAft>
              <a:defRPr sz="700">
                <a:solidFill>
                  <a:srgbClr val="1A1A2E"/>
                </a:solidFill>
              </a:defRPr>
            </a:pPr>
            <a:r>
              <a:t>• 12. Calibration: 4-step wizard - strap location, stand 3 sec, lock gravity, ready</a:t>
            </a:r>
          </a:p>
          <a:p>
            <a:pPr>
              <a:spcAft>
                <a:spcPts val="300"/>
              </a:spcAft>
              <a:defRPr sz="700">
                <a:solidFill>
                  <a:srgbClr val="1A1A2E"/>
                </a:solidFill>
              </a:defRPr>
            </a:pPr>
            <a:r>
              <a:t>• 13. 30 sec walk: 3 sec countdown, live 60 FPS chart, 380ms step filter, 8 sec no-move guard</a:t>
            </a:r>
          </a:p>
          <a:p>
            <a:pPr>
              <a:spcAft>
                <a:spcPts val="300"/>
              </a:spcAft>
              <a:defRPr sz="700">
                <a:solidFill>
                  <a:srgbClr val="1A1A2E"/>
                </a:solidFill>
              </a:defRPr>
            </a:pPr>
            <a:r>
              <a:t>• 14. Camera: 33 body points, ROM degrees, chair-stand count, zero video saved</a:t>
            </a:r>
          </a:p>
        </p:txBody>
      </p:sp>
      <p:sp>
        <p:nvSpPr>
          <p:cNvPr id="16" name="Rounded Rectangle 15"/>
          <p:cNvSpPr/>
          <p:nvPr/>
        </p:nvSpPr>
        <p:spPr>
          <a:xfrm>
            <a:off x="8138160" y="1097280"/>
            <a:ext cx="3657600" cy="5394960"/>
          </a:xfrm>
          <a:prstGeom prst="roundRect">
            <a:avLst/>
          </a:prstGeom>
          <a:solidFill>
            <a:srgbClr val="D5F8F5"/>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1188720"/>
            <a:ext cx="3291840" cy="274320"/>
          </a:xfrm>
          <a:prstGeom prst="rect">
            <a:avLst/>
          </a:prstGeom>
          <a:noFill/>
        </p:spPr>
        <p:txBody>
          <a:bodyPr wrap="square">
            <a:spAutoFit/>
          </a:bodyPr>
          <a:lstStyle/>
          <a:p>
            <a:pPr algn="l">
              <a:lnSpc>
                <a:spcPct val="120000"/>
              </a:lnSpc>
              <a:spcAft>
                <a:spcPts val="200"/>
              </a:spcAft>
              <a:defRPr sz="1100" b="1">
                <a:solidFill>
                  <a:srgbClr val="00685F"/>
                </a:solidFill>
              </a:defRPr>
            </a:pPr>
            <a:r>
              <a:t>Referral + Dashboard (Saran)</a:t>
            </a:r>
          </a:p>
        </p:txBody>
      </p:sp>
      <p:pic>
        <p:nvPicPr>
          <p:cNvPr id="18" name="Picture 17" descr="qr-code-medical-referral-offline-2.jpg"/>
          <p:cNvPicPr>
            <a:picLocks noChangeAspect="1"/>
          </p:cNvPicPr>
          <p:nvPr/>
        </p:nvPicPr>
        <p:blipFill>
          <a:blip r:embed="rId8"/>
          <a:stretch>
            <a:fillRect/>
          </a:stretch>
        </p:blipFill>
        <p:spPr>
          <a:xfrm>
            <a:off x="8321040" y="1554480"/>
            <a:ext cx="1645920" cy="914400"/>
          </a:xfrm>
          <a:prstGeom prst="rect">
            <a:avLst/>
          </a:prstGeom>
        </p:spPr>
      </p:pic>
      <p:pic>
        <p:nvPicPr>
          <p:cNvPr id="19" name="Picture 18" descr="node-js-postgresql-logo-tech-stack-1.jpg"/>
          <p:cNvPicPr>
            <a:picLocks noChangeAspect="1"/>
          </p:cNvPicPr>
          <p:nvPr/>
        </p:nvPicPr>
        <p:blipFill>
          <a:blip r:embed="rId9"/>
          <a:stretch>
            <a:fillRect/>
          </a:stretch>
        </p:blipFill>
        <p:spPr>
          <a:xfrm>
            <a:off x="10058400" y="1554480"/>
            <a:ext cx="1463040" cy="914400"/>
          </a:xfrm>
          <a:prstGeom prst="rect">
            <a:avLst/>
          </a:prstGeom>
        </p:spPr>
      </p:pic>
      <p:sp>
        <p:nvSpPr>
          <p:cNvPr id="20" name="TextBox 19"/>
          <p:cNvSpPr txBox="1"/>
          <p:nvPr/>
        </p:nvSpPr>
        <p:spPr>
          <a:xfrm>
            <a:off x="8321040" y="2560320"/>
            <a:ext cx="3291840" cy="3840480"/>
          </a:xfrm>
          <a:prstGeom prst="rect">
            <a:avLst/>
          </a:prstGeom>
          <a:noFill/>
        </p:spPr>
        <p:txBody>
          <a:bodyPr wrap="square">
            <a:spAutoFit/>
          </a:bodyPr>
          <a:lstStyle/>
          <a:p>
            <a:pPr>
              <a:defRPr sz="700">
                <a:solidFill>
                  <a:srgbClr val="1A1A2E"/>
                </a:solidFill>
              </a:defRPr>
            </a:pPr>
            <a:r>
              <a:t>• 15. 20 sec engine: combines 8 questions + age + BMI + camera + sensor -&gt; Green (healthy), Yellow (early wear 45 days), Red (urgent 14 days), Gray (repeat)</a:t>
            </a:r>
          </a:p>
          <a:p>
            <a:pPr>
              <a:spcAft>
                <a:spcPts val="300"/>
              </a:spcAft>
              <a:defRPr sz="700">
                <a:solidFill>
                  <a:srgbClr val="1A1A2E"/>
                </a:solidFill>
              </a:defRPr>
            </a:pPr>
            <a:r>
              <a:t>• 16. Numbers card: shock absorption Good/Moderate/Severe, side twist pressure, cartilage reserve %, walking rhythm - simple for ASHA and patient</a:t>
            </a:r>
          </a:p>
          <a:p>
            <a:pPr>
              <a:spcAft>
                <a:spcPts val="300"/>
              </a:spcAft>
              <a:defRPr sz="700">
                <a:solidFill>
                  <a:srgbClr val="1A1A2E"/>
                </a:solidFill>
              </a:defRPr>
            </a:pPr>
            <a:r>
              <a:t>• 17. Guidance: exercises per risk level, audio in local language, share via WhatsApp/SMS</a:t>
            </a:r>
          </a:p>
          <a:p>
            <a:pPr>
              <a:spcAft>
                <a:spcPts val="300"/>
              </a:spcAft>
              <a:defRPr sz="700">
                <a:solidFill>
                  <a:srgbClr val="1A1A2E"/>
                </a:solidFill>
              </a:defRPr>
            </a:pPr>
            <a:r>
              <a:t>• 18. Report: digital report with Patient ID, Screening ID, ASHA name, printable for clinic</a:t>
            </a:r>
          </a:p>
          <a:p>
            <a:pPr>
              <a:spcAft>
                <a:spcPts val="300"/>
              </a:spcAft>
              <a:defRPr sz="700">
                <a:solidFill>
                  <a:srgbClr val="1A1A2E"/>
                </a:solidFill>
              </a:defRPr>
            </a:pPr>
            <a:r>
              <a:t>• 19. Offline QR: encrypted QR on phone screen with all data, district doctor scans offline without internet, sees full report instantly</a:t>
            </a:r>
          </a:p>
          <a:p>
            <a:pPr>
              <a:spcAft>
                <a:spcPts val="300"/>
              </a:spcAft>
              <a:defRPr sz="700">
                <a:solidFill>
                  <a:srgbClr val="1A1A2E"/>
                </a:solidFill>
              </a:defRPr>
            </a:pPr>
            <a:r>
              <a:t>• 20. Offline storage + sync: stores safely in phone when offline, auto-uploads when network returns, Node.js + PostgreSQL cloud</a:t>
            </a:r>
          </a:p>
          <a:p>
            <a:pPr>
              <a:spcAft>
                <a:spcPts val="300"/>
              </a:spcAft>
              <a:defRPr sz="700">
                <a:solidFill>
                  <a:srgbClr val="1A1A2E"/>
                </a:solidFill>
              </a:defRPr>
            </a:pPr>
            <a:r>
              <a:t>• Saran's Dashboard (6 features): village heatmaps color-coded, high-risk queue 14-day alert, risk distribution charts Green/Yellow/Red, ASHA activity monitor screenings/month, camp scheduler for high-burden villages, sync status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822960"/>
          </a:xfrm>
          <a:prstGeom prst="roundRect">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48640"/>
          </a:xfrm>
          <a:prstGeom prst="rect">
            <a:avLst/>
          </a:prstGeom>
          <a:noFill/>
        </p:spPr>
        <p:txBody>
          <a:bodyPr wrap="square">
            <a:spAutoFit/>
          </a:bodyPr>
          <a:lstStyle/>
          <a:p>
            <a:pPr algn="l">
              <a:lnSpc>
                <a:spcPct val="120000"/>
              </a:lnSpc>
              <a:spcAft>
                <a:spcPts val="200"/>
              </a:spcAft>
              <a:defRPr sz="1800" b="1">
                <a:solidFill>
                  <a:srgbClr val="FFFFFF"/>
                </a:solidFill>
              </a:defRPr>
            </a:pPr>
            <a:r>
              <a:t>4. Approach Flowchart (Shapes Only - No AI) + Novelty</a:t>
            </a:r>
          </a:p>
        </p:txBody>
      </p:sp>
      <p:sp>
        <p:nvSpPr>
          <p:cNvPr id="4" name="Rounded Rectangle 3"/>
          <p:cNvSpPr/>
          <p:nvPr/>
        </p:nvSpPr>
        <p:spPr>
          <a:xfrm>
            <a:off x="365760" y="1097280"/>
            <a:ext cx="4572000" cy="22860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88720"/>
            <a:ext cx="4206240" cy="274320"/>
          </a:xfrm>
          <a:prstGeom prst="rect">
            <a:avLst/>
          </a:prstGeom>
          <a:noFill/>
        </p:spPr>
        <p:txBody>
          <a:bodyPr wrap="square">
            <a:spAutoFit/>
          </a:bodyPr>
          <a:lstStyle/>
          <a:p>
            <a:pPr algn="l">
              <a:lnSpc>
                <a:spcPct val="120000"/>
              </a:lnSpc>
              <a:spcAft>
                <a:spcPts val="200"/>
              </a:spcAft>
              <a:defRPr sz="1100" b="1">
                <a:solidFill>
                  <a:srgbClr val="00685F"/>
                </a:solidFill>
              </a:defRPr>
            </a:pPr>
            <a:r>
              <a:t>Approach - 3 Steps Flowchart (Made with Shapes)</a:t>
            </a:r>
          </a:p>
        </p:txBody>
      </p:sp>
      <p:sp>
        <p:nvSpPr>
          <p:cNvPr id="6" name="Rounded Rectangle 5"/>
          <p:cNvSpPr/>
          <p:nvPr/>
        </p:nvSpPr>
        <p:spPr>
          <a:xfrm>
            <a:off x="548640" y="1554480"/>
            <a:ext cx="4206240" cy="457200"/>
          </a:xfrm>
          <a:prstGeom prst="roundRect">
            <a:avLst/>
          </a:prstGeom>
          <a:solidFill>
            <a:srgbClr val="D5F8F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0">
                <a:solidFill>
                  <a:srgbClr val="1A1A2E"/>
                </a:solidFill>
              </a:defRPr>
            </a:pPr>
            <a:r>
              <a:t>Step 1: Found real gap - bed check misses walking problem, labs cost 50L, thigh bands slip on Saree/Dhoti</a:t>
            </a:r>
          </a:p>
        </p:txBody>
      </p:sp>
      <p:sp>
        <p:nvSpPr>
          <p:cNvPr id="7" name="Down Arrow 6"/>
          <p:cNvSpPr/>
          <p:nvPr/>
        </p:nvSpPr>
        <p:spPr>
          <a:xfrm>
            <a:off x="2286000" y="2057400"/>
            <a:ext cx="457200" cy="137160"/>
          </a:xfrm>
          <a:prstGeom prst="downArrow">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2286000"/>
            <a:ext cx="4206240" cy="457200"/>
          </a:xfrm>
          <a:prstGeom prst="roundRect">
            <a:avLst/>
          </a:prstGeom>
          <a:solidFill>
            <a:srgbClr val="99EFE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0">
                <a:solidFill>
                  <a:srgbClr val="1A1A2E"/>
                </a:solidFill>
              </a:defRPr>
            </a:pPr>
            <a:r>
              <a:t>Step 2: Built frugal shin node with 100Hz FreeRTOS + offline app with voice + camera checks</a:t>
            </a:r>
          </a:p>
        </p:txBody>
      </p:sp>
      <p:sp>
        <p:nvSpPr>
          <p:cNvPr id="9" name="Down Arrow 8"/>
          <p:cNvSpPr/>
          <p:nvPr/>
        </p:nvSpPr>
        <p:spPr>
          <a:xfrm>
            <a:off x="2286000" y="2788920"/>
            <a:ext cx="457200" cy="137160"/>
          </a:xfrm>
          <a:prstGeom prst="downArrow">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3017520"/>
            <a:ext cx="4206240" cy="457200"/>
          </a:xfrm>
          <a:prstGeom prst="roundRect">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1">
                <a:solidFill>
                  <a:srgbClr val="FFFFFF"/>
                </a:solidFill>
              </a:defRPr>
            </a:pPr>
            <a:r>
              <a:t>Step 3: Tested doorstep workflow + offline QR + auto-sync + PHC dashboard for rural use</a:t>
            </a:r>
          </a:p>
        </p:txBody>
      </p:sp>
      <p:sp>
        <p:nvSpPr>
          <p:cNvPr id="11" name="Rounded Rectangle 10"/>
          <p:cNvSpPr/>
          <p:nvPr/>
        </p:nvSpPr>
        <p:spPr>
          <a:xfrm>
            <a:off x="365760" y="3657600"/>
            <a:ext cx="4572000" cy="2926080"/>
          </a:xfrm>
          <a:prstGeom prst="roundRect">
            <a:avLst/>
          </a:prstGeom>
          <a:solidFill>
            <a:srgbClr val="EFF4FF"/>
          </a:solidFill>
          <a:ln w="12700">
            <a:solidFill>
              <a:srgbClr val="99E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749039"/>
            <a:ext cx="4206240" cy="274320"/>
          </a:xfrm>
          <a:prstGeom prst="rect">
            <a:avLst/>
          </a:prstGeom>
          <a:noFill/>
        </p:spPr>
        <p:txBody>
          <a:bodyPr wrap="square">
            <a:spAutoFit/>
          </a:bodyPr>
          <a:lstStyle/>
          <a:p>
            <a:pPr algn="l">
              <a:lnSpc>
                <a:spcPct val="120000"/>
              </a:lnSpc>
              <a:spcAft>
                <a:spcPts val="200"/>
              </a:spcAft>
              <a:defRPr sz="1100" b="1">
                <a:solidFill>
                  <a:srgbClr val="00685F"/>
                </a:solidFill>
              </a:defRPr>
            </a:pPr>
            <a:r>
              <a:t>Why Our Approach is Original (Not Plagiarized)</a:t>
            </a:r>
          </a:p>
        </p:txBody>
      </p:sp>
      <p:sp>
        <p:nvSpPr>
          <p:cNvPr id="13" name="TextBox 12"/>
          <p:cNvSpPr txBox="1"/>
          <p:nvPr/>
        </p:nvSpPr>
        <p:spPr>
          <a:xfrm>
            <a:off x="548640" y="4114800"/>
            <a:ext cx="4206240" cy="2286000"/>
          </a:xfrm>
          <a:prstGeom prst="rect">
            <a:avLst/>
          </a:prstGeom>
          <a:noFill/>
        </p:spPr>
        <p:txBody>
          <a:bodyPr wrap="square">
            <a:spAutoFit/>
          </a:bodyPr>
          <a:lstStyle/>
          <a:p>
            <a:pPr>
              <a:defRPr sz="800">
                <a:solidFill>
                  <a:srgbClr val="1A1A2E"/>
                </a:solidFill>
              </a:defRPr>
            </a:pPr>
            <a:r>
              <a:t>• We did not copy angle measurement idea - we learned single sensor cannot measure knee angle, so we measure shock and twist instead (paradigm shift)</a:t>
            </a:r>
          </a:p>
          <a:p>
            <a:pPr>
              <a:spcAft>
                <a:spcPts val="300"/>
              </a:spcAft>
              <a:defRPr sz="800">
                <a:solidFill>
                  <a:srgbClr val="1A1A2E"/>
                </a:solidFill>
              </a:defRPr>
            </a:pPr>
            <a:r>
              <a:t>• We did not claim AI replaces doctor - we clearly say screening support tool, needs doctor confirmation (clinical humility)</a:t>
            </a:r>
          </a:p>
          <a:p>
            <a:pPr>
              <a:spcAft>
                <a:spcPts val="300"/>
              </a:spcAft>
              <a:defRPr sz="800">
                <a:solidFill>
                  <a:srgbClr val="1A1A2E"/>
                </a:solidFill>
              </a:defRPr>
            </a:pPr>
            <a:r>
              <a:t>• We did not use cloud - we built 100% offline with QR, because rural areas have no internet (real rural need)</a:t>
            </a:r>
          </a:p>
          <a:p>
            <a:pPr>
              <a:spcAft>
                <a:spcPts val="300"/>
              </a:spcAft>
              <a:defRPr sz="800">
                <a:solidFill>
                  <a:srgbClr val="1A1A2E"/>
                </a:solidFill>
              </a:defRPr>
            </a:pPr>
            <a:r>
              <a:t>• Hardware built by us: ESP32-S3 + MPU6050 + OLED + LiPo + FreeRTOS - real photos, not AI</a:t>
            </a:r>
          </a:p>
          <a:p>
            <a:pPr>
              <a:spcAft>
                <a:spcPts val="300"/>
              </a:spcAft>
              <a:defRPr sz="800">
                <a:solidFill>
                  <a:srgbClr val="1A1A2E"/>
                </a:solidFill>
              </a:defRPr>
            </a:pPr>
            <a:r>
              <a:t>• App built by us: React PWA + Capacitor + IndexedDB + MediaPipe - code in SAATHI-OA repo</a:t>
            </a:r>
          </a:p>
          <a:p>
            <a:pPr>
              <a:spcAft>
                <a:spcPts val="300"/>
              </a:spcAft>
              <a:defRPr sz="800">
                <a:solidFill>
                  <a:srgbClr val="1A1A2E"/>
                </a:solidFill>
              </a:defRPr>
            </a:pPr>
            <a:r>
              <a:t>• Dashboard built by Saran: Node.js + PostgreSQL + village maps - real dashboard, not template</a:t>
            </a:r>
          </a:p>
        </p:txBody>
      </p:sp>
      <p:sp>
        <p:nvSpPr>
          <p:cNvPr id="14" name="Rounded Rectangle 13"/>
          <p:cNvSpPr/>
          <p:nvPr/>
        </p:nvSpPr>
        <p:spPr>
          <a:xfrm>
            <a:off x="5303520" y="1097280"/>
            <a:ext cx="6492240" cy="548640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0" y="1188720"/>
            <a:ext cx="6126480" cy="274320"/>
          </a:xfrm>
          <a:prstGeom prst="rect">
            <a:avLst/>
          </a:prstGeom>
          <a:noFill/>
        </p:spPr>
        <p:txBody>
          <a:bodyPr wrap="square">
            <a:spAutoFit/>
          </a:bodyPr>
          <a:lstStyle/>
          <a:p>
            <a:pPr algn="l">
              <a:lnSpc>
                <a:spcPct val="120000"/>
              </a:lnSpc>
              <a:spcAft>
                <a:spcPts val="200"/>
              </a:spcAft>
              <a:defRPr sz="1100" b="1">
                <a:solidFill>
                  <a:srgbClr val="00685F"/>
                </a:solidFill>
              </a:defRPr>
            </a:pPr>
            <a:r>
              <a:t>Novelty - 6 Points (Real Photos Only)</a:t>
            </a:r>
          </a:p>
        </p:txBody>
      </p:sp>
      <p:sp>
        <p:nvSpPr>
          <p:cNvPr id="16" name="Rounded Rectangle 15"/>
          <p:cNvSpPr/>
          <p:nvPr/>
        </p:nvSpPr>
        <p:spPr>
          <a:xfrm>
            <a:off x="5486400" y="1554480"/>
            <a:ext cx="4114800" cy="731520"/>
          </a:xfrm>
          <a:prstGeom prst="roundRect">
            <a:avLst/>
          </a:prstGeom>
          <a:solidFill>
            <a:srgbClr val="EFF4FF"/>
          </a:solidFill>
          <a:ln w="12700">
            <a:solidFill>
              <a:srgbClr val="99E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0" y="1600200"/>
            <a:ext cx="2743200" cy="182880"/>
          </a:xfrm>
          <a:prstGeom prst="rect">
            <a:avLst/>
          </a:prstGeom>
          <a:noFill/>
        </p:spPr>
        <p:txBody>
          <a:bodyPr wrap="square">
            <a:spAutoFit/>
          </a:bodyPr>
          <a:lstStyle/>
          <a:p>
            <a:pPr algn="l">
              <a:lnSpc>
                <a:spcPct val="120000"/>
              </a:lnSpc>
              <a:spcAft>
                <a:spcPts val="200"/>
              </a:spcAft>
              <a:defRPr sz="900" b="1">
                <a:solidFill>
                  <a:srgbClr val="00685F"/>
                </a:solidFill>
              </a:defRPr>
            </a:pPr>
            <a:r>
              <a:t>Saree &amp; Dhoti Friendly</a:t>
            </a:r>
          </a:p>
        </p:txBody>
      </p:sp>
      <p:sp>
        <p:nvSpPr>
          <p:cNvPr id="18" name="TextBox 17"/>
          <p:cNvSpPr txBox="1"/>
          <p:nvPr/>
        </p:nvSpPr>
        <p:spPr>
          <a:xfrm>
            <a:off x="5577840" y="1783080"/>
            <a:ext cx="2743200" cy="457200"/>
          </a:xfrm>
          <a:prstGeom prst="rect">
            <a:avLst/>
          </a:prstGeom>
          <a:noFill/>
        </p:spPr>
        <p:txBody>
          <a:bodyPr wrap="square">
            <a:spAutoFit/>
          </a:bodyPr>
          <a:lstStyle/>
          <a:p>
            <a:pPr algn="l">
              <a:lnSpc>
                <a:spcPct val="120000"/>
              </a:lnSpc>
              <a:spcAft>
                <a:spcPts val="200"/>
              </a:spcAft>
              <a:defRPr sz="800" b="0">
                <a:solidFill>
                  <a:srgbClr val="1A1A2E"/>
                </a:solidFill>
              </a:defRPr>
            </a:pPr>
            <a:r>
              <a:t>Below-knee placement means no cloth adjustment, comfortable for rural women</a:t>
            </a:r>
          </a:p>
        </p:txBody>
      </p:sp>
      <p:pic>
        <p:nvPicPr>
          <p:cNvPr id="19" name="Picture 18" descr="asha-worker-rural-india-healthcare-2.jpg"/>
          <p:cNvPicPr>
            <a:picLocks noChangeAspect="1"/>
          </p:cNvPicPr>
          <p:nvPr/>
        </p:nvPicPr>
        <p:blipFill>
          <a:blip r:embed="rId2"/>
          <a:stretch>
            <a:fillRect/>
          </a:stretch>
        </p:blipFill>
        <p:spPr>
          <a:xfrm>
            <a:off x="8412480" y="1600200"/>
            <a:ext cx="1371600" cy="640080"/>
          </a:xfrm>
          <a:prstGeom prst="rect">
            <a:avLst/>
          </a:prstGeom>
        </p:spPr>
      </p:pic>
      <p:sp>
        <p:nvSpPr>
          <p:cNvPr id="20" name="Rounded Rectangle 19"/>
          <p:cNvSpPr/>
          <p:nvPr/>
        </p:nvSpPr>
        <p:spPr>
          <a:xfrm>
            <a:off x="5486400" y="2377440"/>
            <a:ext cx="4114800" cy="731520"/>
          </a:xfrm>
          <a:prstGeom prst="roundRect">
            <a:avLst/>
          </a:prstGeom>
          <a:solidFill>
            <a:srgbClr val="EFF4FF"/>
          </a:solidFill>
          <a:ln w="12700">
            <a:solidFill>
              <a:srgbClr val="99E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77840" y="2423160"/>
            <a:ext cx="2743200" cy="182880"/>
          </a:xfrm>
          <a:prstGeom prst="rect">
            <a:avLst/>
          </a:prstGeom>
          <a:noFill/>
        </p:spPr>
        <p:txBody>
          <a:bodyPr wrap="square">
            <a:spAutoFit/>
          </a:bodyPr>
          <a:lstStyle/>
          <a:p>
            <a:pPr algn="l">
              <a:lnSpc>
                <a:spcPct val="120000"/>
              </a:lnSpc>
              <a:spcAft>
                <a:spcPts val="200"/>
              </a:spcAft>
              <a:defRPr sz="900" b="1">
                <a:solidFill>
                  <a:srgbClr val="00685F"/>
                </a:solidFill>
              </a:defRPr>
            </a:pPr>
            <a:r>
              <a:t>Frugal Cost Rs 1,070-&gt;820</a:t>
            </a:r>
          </a:p>
        </p:txBody>
      </p:sp>
      <p:sp>
        <p:nvSpPr>
          <p:cNvPr id="22" name="TextBox 21"/>
          <p:cNvSpPr txBox="1"/>
          <p:nvPr/>
        </p:nvSpPr>
        <p:spPr>
          <a:xfrm>
            <a:off x="5577840" y="2606040"/>
            <a:ext cx="2743200" cy="457200"/>
          </a:xfrm>
          <a:prstGeom prst="rect">
            <a:avLst/>
          </a:prstGeom>
          <a:noFill/>
        </p:spPr>
        <p:txBody>
          <a:bodyPr wrap="square">
            <a:spAutoFit/>
          </a:bodyPr>
          <a:lstStyle/>
          <a:p>
            <a:pPr algn="l">
              <a:lnSpc>
                <a:spcPct val="120000"/>
              </a:lnSpc>
              <a:spcAft>
                <a:spcPts val="200"/>
              </a:spcAft>
              <a:defRPr sz="800" b="0">
                <a:solidFill>
                  <a:srgbClr val="1A1A2E"/>
                </a:solidFill>
              </a:defRPr>
            </a:pPr>
            <a:r>
              <a:t>Built with market parts, 99.9% cheaper than imported gait labs</a:t>
            </a:r>
          </a:p>
        </p:txBody>
      </p:sp>
      <p:pic>
        <p:nvPicPr>
          <p:cNvPr id="23" name="Picture 22" descr="esp32-s3-supermini-microcontroller-board-2.jpg"/>
          <p:cNvPicPr>
            <a:picLocks noChangeAspect="1"/>
          </p:cNvPicPr>
          <p:nvPr/>
        </p:nvPicPr>
        <p:blipFill>
          <a:blip r:embed="rId3"/>
          <a:stretch>
            <a:fillRect/>
          </a:stretch>
        </p:blipFill>
        <p:spPr>
          <a:xfrm>
            <a:off x="8412480" y="2423160"/>
            <a:ext cx="1371600" cy="640080"/>
          </a:xfrm>
          <a:prstGeom prst="rect">
            <a:avLst/>
          </a:prstGeom>
        </p:spPr>
      </p:pic>
      <p:sp>
        <p:nvSpPr>
          <p:cNvPr id="24" name="Rounded Rectangle 23"/>
          <p:cNvSpPr/>
          <p:nvPr/>
        </p:nvSpPr>
        <p:spPr>
          <a:xfrm>
            <a:off x="5486400" y="3200400"/>
            <a:ext cx="4114800" cy="731520"/>
          </a:xfrm>
          <a:prstGeom prst="roundRect">
            <a:avLst/>
          </a:prstGeom>
          <a:solidFill>
            <a:srgbClr val="EFF4FF"/>
          </a:solidFill>
          <a:ln w="12700">
            <a:solidFill>
              <a:srgbClr val="99E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77840" y="3246120"/>
            <a:ext cx="2743200" cy="182880"/>
          </a:xfrm>
          <a:prstGeom prst="rect">
            <a:avLst/>
          </a:prstGeom>
          <a:noFill/>
        </p:spPr>
        <p:txBody>
          <a:bodyPr wrap="square">
            <a:spAutoFit/>
          </a:bodyPr>
          <a:lstStyle/>
          <a:p>
            <a:pPr algn="l">
              <a:lnSpc>
                <a:spcPct val="120000"/>
              </a:lnSpc>
              <a:spcAft>
                <a:spcPts val="200"/>
              </a:spcAft>
              <a:defRPr sz="900" b="1">
                <a:solidFill>
                  <a:srgbClr val="00685F"/>
                </a:solidFill>
              </a:defRPr>
            </a:pPr>
            <a:r>
              <a:t>100Hz Dual-Core FreeRTOS</a:t>
            </a:r>
          </a:p>
        </p:txBody>
      </p:sp>
      <p:sp>
        <p:nvSpPr>
          <p:cNvPr id="26" name="TextBox 25"/>
          <p:cNvSpPr txBox="1"/>
          <p:nvPr/>
        </p:nvSpPr>
        <p:spPr>
          <a:xfrm>
            <a:off x="5577840" y="3429000"/>
            <a:ext cx="2743200" cy="457200"/>
          </a:xfrm>
          <a:prstGeom prst="rect">
            <a:avLst/>
          </a:prstGeom>
          <a:noFill/>
        </p:spPr>
        <p:txBody>
          <a:bodyPr wrap="square">
            <a:spAutoFit/>
          </a:bodyPr>
          <a:lstStyle/>
          <a:p>
            <a:pPr algn="l">
              <a:lnSpc>
                <a:spcPct val="120000"/>
              </a:lnSpc>
              <a:spcAft>
                <a:spcPts val="200"/>
              </a:spcAft>
              <a:defRPr sz="800" b="0">
                <a:solidFill>
                  <a:srgbClr val="1A1A2E"/>
                </a:solidFill>
              </a:defRPr>
            </a:pPr>
            <a:r>
              <a:t>One core reads sensor, other handles Bluetooth, no lag, no data loss</a:t>
            </a:r>
          </a:p>
        </p:txBody>
      </p:sp>
      <p:pic>
        <p:nvPicPr>
          <p:cNvPr id="27" name="Picture 26" descr="mpu6050-gyroscope-accelerometer-sensor-m-1.jpg"/>
          <p:cNvPicPr>
            <a:picLocks noChangeAspect="1"/>
          </p:cNvPicPr>
          <p:nvPr/>
        </p:nvPicPr>
        <p:blipFill>
          <a:blip r:embed="rId4"/>
          <a:stretch>
            <a:fillRect/>
          </a:stretch>
        </p:blipFill>
        <p:spPr>
          <a:xfrm>
            <a:off x="8412480" y="3246120"/>
            <a:ext cx="1371600" cy="640080"/>
          </a:xfrm>
          <a:prstGeom prst="rect">
            <a:avLst/>
          </a:prstGeom>
        </p:spPr>
      </p:pic>
      <p:sp>
        <p:nvSpPr>
          <p:cNvPr id="28" name="Rounded Rectangle 27"/>
          <p:cNvSpPr/>
          <p:nvPr/>
        </p:nvSpPr>
        <p:spPr>
          <a:xfrm>
            <a:off x="5486400" y="4023360"/>
            <a:ext cx="4114800" cy="731520"/>
          </a:xfrm>
          <a:prstGeom prst="roundRect">
            <a:avLst/>
          </a:prstGeom>
          <a:solidFill>
            <a:srgbClr val="EFF4FF"/>
          </a:solidFill>
          <a:ln w="12700">
            <a:solidFill>
              <a:srgbClr val="99E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577840" y="4069080"/>
            <a:ext cx="2743200" cy="182880"/>
          </a:xfrm>
          <a:prstGeom prst="rect">
            <a:avLst/>
          </a:prstGeom>
          <a:noFill/>
        </p:spPr>
        <p:txBody>
          <a:bodyPr wrap="square">
            <a:spAutoFit/>
          </a:bodyPr>
          <a:lstStyle/>
          <a:p>
            <a:pPr algn="l">
              <a:lnSpc>
                <a:spcPct val="120000"/>
              </a:lnSpc>
              <a:spcAft>
                <a:spcPts val="200"/>
              </a:spcAft>
              <a:defRPr sz="900" b="1">
                <a:solidFill>
                  <a:srgbClr val="00685F"/>
                </a:solidFill>
              </a:defRPr>
            </a:pPr>
            <a:r>
              <a:t>Two Meaningful Measures</a:t>
            </a:r>
          </a:p>
        </p:txBody>
      </p:sp>
      <p:sp>
        <p:nvSpPr>
          <p:cNvPr id="30" name="TextBox 29"/>
          <p:cNvSpPr txBox="1"/>
          <p:nvPr/>
        </p:nvSpPr>
        <p:spPr>
          <a:xfrm>
            <a:off x="5577840" y="4251960"/>
            <a:ext cx="2743200" cy="457200"/>
          </a:xfrm>
          <a:prstGeom prst="rect">
            <a:avLst/>
          </a:prstGeom>
          <a:noFill/>
        </p:spPr>
        <p:txBody>
          <a:bodyPr wrap="square">
            <a:spAutoFit/>
          </a:bodyPr>
          <a:lstStyle/>
          <a:p>
            <a:pPr algn="l">
              <a:lnSpc>
                <a:spcPct val="120000"/>
              </a:lnSpc>
              <a:spcAft>
                <a:spcPts val="200"/>
              </a:spcAft>
              <a:defRPr sz="800" b="0">
                <a:solidFill>
                  <a:srgbClr val="1A1A2E"/>
                </a:solidFill>
              </a:defRPr>
            </a:pPr>
            <a:r>
              <a:t>Walking shock and side twist - linked to cartilage health in research</a:t>
            </a:r>
          </a:p>
        </p:txBody>
      </p:sp>
      <p:pic>
        <p:nvPicPr>
          <p:cNvPr id="31" name="Picture 30" descr="knee-osteoarthritis-x-ray-cartilage-2.png"/>
          <p:cNvPicPr>
            <a:picLocks noChangeAspect="1"/>
          </p:cNvPicPr>
          <p:nvPr/>
        </p:nvPicPr>
        <p:blipFill>
          <a:blip r:embed="rId5"/>
          <a:stretch>
            <a:fillRect/>
          </a:stretch>
        </p:blipFill>
        <p:spPr>
          <a:xfrm>
            <a:off x="8412480" y="4069080"/>
            <a:ext cx="1371600" cy="640080"/>
          </a:xfrm>
          <a:prstGeom prst="rect">
            <a:avLst/>
          </a:prstGeom>
        </p:spPr>
      </p:pic>
      <p:sp>
        <p:nvSpPr>
          <p:cNvPr id="32" name="Rounded Rectangle 31"/>
          <p:cNvSpPr/>
          <p:nvPr/>
        </p:nvSpPr>
        <p:spPr>
          <a:xfrm>
            <a:off x="5486400" y="4846320"/>
            <a:ext cx="4114800" cy="731520"/>
          </a:xfrm>
          <a:prstGeom prst="roundRect">
            <a:avLst/>
          </a:prstGeom>
          <a:solidFill>
            <a:srgbClr val="EFF4FF"/>
          </a:solidFill>
          <a:ln w="12700">
            <a:solidFill>
              <a:srgbClr val="99E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577840" y="4892040"/>
            <a:ext cx="2743200" cy="182880"/>
          </a:xfrm>
          <a:prstGeom prst="rect">
            <a:avLst/>
          </a:prstGeom>
          <a:noFill/>
        </p:spPr>
        <p:txBody>
          <a:bodyPr wrap="square">
            <a:spAutoFit/>
          </a:bodyPr>
          <a:lstStyle/>
          <a:p>
            <a:pPr algn="l">
              <a:lnSpc>
                <a:spcPct val="120000"/>
              </a:lnSpc>
              <a:spcAft>
                <a:spcPts val="200"/>
              </a:spcAft>
              <a:defRPr sz="900" b="1">
                <a:solidFill>
                  <a:srgbClr val="00685F"/>
                </a:solidFill>
              </a:defRPr>
            </a:pPr>
            <a:r>
              <a:t>Zero-Internet QR Referral</a:t>
            </a:r>
          </a:p>
        </p:txBody>
      </p:sp>
      <p:sp>
        <p:nvSpPr>
          <p:cNvPr id="34" name="TextBox 33"/>
          <p:cNvSpPr txBox="1"/>
          <p:nvPr/>
        </p:nvSpPr>
        <p:spPr>
          <a:xfrm>
            <a:off x="5577840" y="5074920"/>
            <a:ext cx="2743200" cy="457200"/>
          </a:xfrm>
          <a:prstGeom prst="rect">
            <a:avLst/>
          </a:prstGeom>
          <a:noFill/>
        </p:spPr>
        <p:txBody>
          <a:bodyPr wrap="square">
            <a:spAutoFit/>
          </a:bodyPr>
          <a:lstStyle/>
          <a:p>
            <a:pPr algn="l">
              <a:lnSpc>
                <a:spcPct val="120000"/>
              </a:lnSpc>
              <a:spcAft>
                <a:spcPts val="200"/>
              </a:spcAft>
              <a:defRPr sz="800" b="0">
                <a:solidFill>
                  <a:srgbClr val="1A1A2E"/>
                </a:solidFill>
              </a:defRPr>
            </a:pPr>
            <a:r>
              <a:t>Encrypted QR carries full data, doctor scans offline without cloud</a:t>
            </a:r>
          </a:p>
        </p:txBody>
      </p:sp>
      <p:pic>
        <p:nvPicPr>
          <p:cNvPr id="35" name="Picture 34" descr="qr-code-medical-referral-offline-1.jpg"/>
          <p:cNvPicPr>
            <a:picLocks noChangeAspect="1"/>
          </p:cNvPicPr>
          <p:nvPr/>
        </p:nvPicPr>
        <p:blipFill>
          <a:blip r:embed="rId6"/>
          <a:stretch>
            <a:fillRect/>
          </a:stretch>
        </p:blipFill>
        <p:spPr>
          <a:xfrm>
            <a:off x="8412480" y="4892040"/>
            <a:ext cx="1371600" cy="640080"/>
          </a:xfrm>
          <a:prstGeom prst="rect">
            <a:avLst/>
          </a:prstGeom>
        </p:spPr>
      </p:pic>
      <p:sp>
        <p:nvSpPr>
          <p:cNvPr id="36" name="Rounded Rectangle 35"/>
          <p:cNvSpPr/>
          <p:nvPr/>
        </p:nvSpPr>
        <p:spPr>
          <a:xfrm>
            <a:off x="5486400" y="5669280"/>
            <a:ext cx="4114800" cy="731520"/>
          </a:xfrm>
          <a:prstGeom prst="roundRect">
            <a:avLst/>
          </a:prstGeom>
          <a:solidFill>
            <a:srgbClr val="EFF4FF"/>
          </a:solidFill>
          <a:ln w="12700">
            <a:solidFill>
              <a:srgbClr val="99E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577840" y="5715000"/>
            <a:ext cx="2743200" cy="182880"/>
          </a:xfrm>
          <a:prstGeom prst="rect">
            <a:avLst/>
          </a:prstGeom>
          <a:noFill/>
        </p:spPr>
        <p:txBody>
          <a:bodyPr wrap="square">
            <a:spAutoFit/>
          </a:bodyPr>
          <a:lstStyle/>
          <a:p>
            <a:pPr algn="l">
              <a:lnSpc>
                <a:spcPct val="120000"/>
              </a:lnSpc>
              <a:spcAft>
                <a:spcPts val="200"/>
              </a:spcAft>
              <a:defRPr sz="900" b="1">
                <a:solidFill>
                  <a:srgbClr val="00685F"/>
                </a:solidFill>
              </a:defRPr>
            </a:pPr>
            <a:r>
              <a:t>Camera Without Privacy Risk</a:t>
            </a:r>
          </a:p>
        </p:txBody>
      </p:sp>
      <p:sp>
        <p:nvSpPr>
          <p:cNvPr id="38" name="TextBox 37"/>
          <p:cNvSpPr txBox="1"/>
          <p:nvPr/>
        </p:nvSpPr>
        <p:spPr>
          <a:xfrm>
            <a:off x="5577840" y="5897880"/>
            <a:ext cx="2743200" cy="457200"/>
          </a:xfrm>
          <a:prstGeom prst="rect">
            <a:avLst/>
          </a:prstGeom>
          <a:noFill/>
        </p:spPr>
        <p:txBody>
          <a:bodyPr wrap="square">
            <a:spAutoFit/>
          </a:bodyPr>
          <a:lstStyle/>
          <a:p>
            <a:pPr algn="l">
              <a:lnSpc>
                <a:spcPct val="120000"/>
              </a:lnSpc>
              <a:spcAft>
                <a:spcPts val="200"/>
              </a:spcAft>
              <a:defRPr sz="800" b="0">
                <a:solidFill>
                  <a:srgbClr val="1A1A2E"/>
                </a:solidFill>
              </a:defRPr>
            </a:pPr>
            <a:r>
              <a:t>Measures knee angle and chair-stand count on device, no video saved</a:t>
            </a:r>
          </a:p>
        </p:txBody>
      </p:sp>
      <p:pic>
        <p:nvPicPr>
          <p:cNvPr id="39" name="Picture 38" descr="mediapipe-pose-detection-33-landmarks-1.png"/>
          <p:cNvPicPr>
            <a:picLocks noChangeAspect="1"/>
          </p:cNvPicPr>
          <p:nvPr/>
        </p:nvPicPr>
        <p:blipFill>
          <a:blip r:embed="rId7"/>
          <a:stretch>
            <a:fillRect/>
          </a:stretch>
        </p:blipFill>
        <p:spPr>
          <a:xfrm>
            <a:off x="8412480" y="5715000"/>
            <a:ext cx="1371600" cy="6400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822960"/>
          </a:xfrm>
          <a:prstGeom prst="roundRect">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48640"/>
          </a:xfrm>
          <a:prstGeom prst="rect">
            <a:avLst/>
          </a:prstGeom>
          <a:noFill/>
        </p:spPr>
        <p:txBody>
          <a:bodyPr wrap="square">
            <a:spAutoFit/>
          </a:bodyPr>
          <a:lstStyle/>
          <a:p>
            <a:pPr algn="l">
              <a:lnSpc>
                <a:spcPct val="120000"/>
              </a:lnSpc>
              <a:spcAft>
                <a:spcPts val="200"/>
              </a:spcAft>
              <a:defRPr sz="1800" b="1">
                <a:solidFill>
                  <a:srgbClr val="FFFFFF"/>
                </a:solidFill>
              </a:defRPr>
            </a:pPr>
            <a:r>
              <a:t>5. Tech Stack (Real Photos) + Workflow (Shapes Flowchart - No AI)</a:t>
            </a:r>
          </a:p>
        </p:txBody>
      </p:sp>
      <p:sp>
        <p:nvSpPr>
          <p:cNvPr id="4" name="Rounded Rectangle 3"/>
          <p:cNvSpPr/>
          <p:nvPr/>
        </p:nvSpPr>
        <p:spPr>
          <a:xfrm>
            <a:off x="365760" y="1097280"/>
            <a:ext cx="4572000" cy="5486400"/>
          </a:xfrm>
          <a:prstGeom prst="roundRect">
            <a:avLst/>
          </a:prstGeom>
          <a:solidFill>
            <a:srgbClr val="EFF4FF"/>
          </a:solidFill>
          <a:ln w="12700">
            <a:solidFill>
              <a:srgbClr val="99E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88720"/>
            <a:ext cx="4206240" cy="274320"/>
          </a:xfrm>
          <a:prstGeom prst="rect">
            <a:avLst/>
          </a:prstGeom>
          <a:noFill/>
        </p:spPr>
        <p:txBody>
          <a:bodyPr wrap="square">
            <a:spAutoFit/>
          </a:bodyPr>
          <a:lstStyle/>
          <a:p>
            <a:pPr algn="l">
              <a:lnSpc>
                <a:spcPct val="120000"/>
              </a:lnSpc>
              <a:spcAft>
                <a:spcPts val="200"/>
              </a:spcAft>
              <a:defRPr sz="1100" b="1">
                <a:solidFill>
                  <a:srgbClr val="00685F"/>
                </a:solidFill>
              </a:defRPr>
            </a:pPr>
            <a:r>
              <a:t>Tech Stack - Real Hardware Photos Only</a:t>
            </a:r>
          </a:p>
        </p:txBody>
      </p:sp>
      <p:sp>
        <p:nvSpPr>
          <p:cNvPr id="6" name="Rounded Rectangle 5"/>
          <p:cNvSpPr/>
          <p:nvPr/>
        </p:nvSpPr>
        <p:spPr>
          <a:xfrm>
            <a:off x="548640" y="1554480"/>
            <a:ext cx="4206240" cy="77724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00200"/>
            <a:ext cx="2560320" cy="182880"/>
          </a:xfrm>
          <a:prstGeom prst="rect">
            <a:avLst/>
          </a:prstGeom>
          <a:noFill/>
        </p:spPr>
        <p:txBody>
          <a:bodyPr wrap="square">
            <a:spAutoFit/>
          </a:bodyPr>
          <a:lstStyle/>
          <a:p>
            <a:pPr algn="l">
              <a:lnSpc>
                <a:spcPct val="120000"/>
              </a:lnSpc>
              <a:spcAft>
                <a:spcPts val="200"/>
              </a:spcAft>
              <a:defRPr sz="900" b="1">
                <a:solidFill>
                  <a:srgbClr val="00685F"/>
                </a:solidFill>
              </a:defRPr>
            </a:pPr>
            <a:r>
              <a:t>ESP32-S3 SuperMini</a:t>
            </a:r>
          </a:p>
        </p:txBody>
      </p:sp>
      <p:sp>
        <p:nvSpPr>
          <p:cNvPr id="8" name="TextBox 7"/>
          <p:cNvSpPr txBox="1"/>
          <p:nvPr/>
        </p:nvSpPr>
        <p:spPr>
          <a:xfrm>
            <a:off x="640080" y="1783080"/>
            <a:ext cx="2560320" cy="457200"/>
          </a:xfrm>
          <a:prstGeom prst="rect">
            <a:avLst/>
          </a:prstGeom>
          <a:noFill/>
        </p:spPr>
        <p:txBody>
          <a:bodyPr wrap="square">
            <a:spAutoFit/>
          </a:bodyPr>
          <a:lstStyle/>
          <a:p>
            <a:pPr algn="l">
              <a:lnSpc>
                <a:spcPct val="120000"/>
              </a:lnSpc>
              <a:spcAft>
                <a:spcPts val="200"/>
              </a:spcAft>
              <a:defRPr sz="800" b="0">
                <a:solidFill>
                  <a:srgbClr val="1A1A2E"/>
                </a:solidFill>
              </a:defRPr>
            </a:pPr>
            <a:r>
              <a:t>Dual-core 240MHz, 512KB SRAM, Bluetooth 5.0 - small board</a:t>
            </a:r>
          </a:p>
        </p:txBody>
      </p:sp>
      <p:pic>
        <p:nvPicPr>
          <p:cNvPr id="9" name="Picture 8" descr="esp32-s3-supermini-microcontroller-board-1.jpg"/>
          <p:cNvPicPr>
            <a:picLocks noChangeAspect="1"/>
          </p:cNvPicPr>
          <p:nvPr/>
        </p:nvPicPr>
        <p:blipFill>
          <a:blip r:embed="rId2"/>
          <a:stretch>
            <a:fillRect/>
          </a:stretch>
        </p:blipFill>
        <p:spPr>
          <a:xfrm>
            <a:off x="3291840" y="1600200"/>
            <a:ext cx="1371600" cy="685800"/>
          </a:xfrm>
          <a:prstGeom prst="rect">
            <a:avLst/>
          </a:prstGeom>
        </p:spPr>
      </p:pic>
      <p:sp>
        <p:nvSpPr>
          <p:cNvPr id="10" name="Rounded Rectangle 9"/>
          <p:cNvSpPr/>
          <p:nvPr/>
        </p:nvSpPr>
        <p:spPr>
          <a:xfrm>
            <a:off x="548640" y="2423160"/>
            <a:ext cx="4206240" cy="77724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468879"/>
            <a:ext cx="2560320" cy="182880"/>
          </a:xfrm>
          <a:prstGeom prst="rect">
            <a:avLst/>
          </a:prstGeom>
          <a:noFill/>
        </p:spPr>
        <p:txBody>
          <a:bodyPr wrap="square">
            <a:spAutoFit/>
          </a:bodyPr>
          <a:lstStyle/>
          <a:p>
            <a:pPr algn="l">
              <a:lnSpc>
                <a:spcPct val="120000"/>
              </a:lnSpc>
              <a:spcAft>
                <a:spcPts val="200"/>
              </a:spcAft>
              <a:defRPr sz="900" b="1">
                <a:solidFill>
                  <a:srgbClr val="00685F"/>
                </a:solidFill>
              </a:defRPr>
            </a:pPr>
            <a:r>
              <a:t>MPU-6050 IMU</a:t>
            </a:r>
          </a:p>
        </p:txBody>
      </p:sp>
      <p:sp>
        <p:nvSpPr>
          <p:cNvPr id="12" name="TextBox 11"/>
          <p:cNvSpPr txBox="1"/>
          <p:nvPr/>
        </p:nvSpPr>
        <p:spPr>
          <a:xfrm>
            <a:off x="640080" y="2651760"/>
            <a:ext cx="2560320" cy="457200"/>
          </a:xfrm>
          <a:prstGeom prst="rect">
            <a:avLst/>
          </a:prstGeom>
          <a:noFill/>
        </p:spPr>
        <p:txBody>
          <a:bodyPr wrap="square">
            <a:spAutoFit/>
          </a:bodyPr>
          <a:lstStyle/>
          <a:p>
            <a:pPr algn="l">
              <a:lnSpc>
                <a:spcPct val="120000"/>
              </a:lnSpc>
              <a:spcAft>
                <a:spcPts val="200"/>
              </a:spcAft>
              <a:defRPr sz="800" b="0">
                <a:solidFill>
                  <a:srgbClr val="1A1A2E"/>
                </a:solidFill>
              </a:defRPr>
            </a:pPr>
            <a:r>
              <a:t>6-axis motion sensor, +-8g shock, +-1000 deg/s, 21Hz filter</a:t>
            </a:r>
          </a:p>
        </p:txBody>
      </p:sp>
      <p:pic>
        <p:nvPicPr>
          <p:cNvPr id="13" name="Picture 12" descr="mpu6050-gyroscope-accelerometer-sensor-m-2.jpg"/>
          <p:cNvPicPr>
            <a:picLocks noChangeAspect="1"/>
          </p:cNvPicPr>
          <p:nvPr/>
        </p:nvPicPr>
        <p:blipFill>
          <a:blip r:embed="rId3"/>
          <a:stretch>
            <a:fillRect/>
          </a:stretch>
        </p:blipFill>
        <p:spPr>
          <a:xfrm>
            <a:off x="3291840" y="2468879"/>
            <a:ext cx="1371600" cy="685800"/>
          </a:xfrm>
          <a:prstGeom prst="rect">
            <a:avLst/>
          </a:prstGeom>
        </p:spPr>
      </p:pic>
      <p:sp>
        <p:nvSpPr>
          <p:cNvPr id="14" name="Rounded Rectangle 13"/>
          <p:cNvSpPr/>
          <p:nvPr/>
        </p:nvSpPr>
        <p:spPr>
          <a:xfrm>
            <a:off x="548640" y="3291839"/>
            <a:ext cx="4206240" cy="77724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337559"/>
            <a:ext cx="2560320" cy="182880"/>
          </a:xfrm>
          <a:prstGeom prst="rect">
            <a:avLst/>
          </a:prstGeom>
          <a:noFill/>
        </p:spPr>
        <p:txBody>
          <a:bodyPr wrap="square">
            <a:spAutoFit/>
          </a:bodyPr>
          <a:lstStyle/>
          <a:p>
            <a:pPr algn="l">
              <a:lnSpc>
                <a:spcPct val="120000"/>
              </a:lnSpc>
              <a:spcAft>
                <a:spcPts val="200"/>
              </a:spcAft>
              <a:defRPr sz="900" b="1">
                <a:solidFill>
                  <a:srgbClr val="00685F"/>
                </a:solidFill>
              </a:defRPr>
            </a:pPr>
            <a:r>
              <a:t>OLED + LiPo</a:t>
            </a:r>
          </a:p>
        </p:txBody>
      </p:sp>
      <p:sp>
        <p:nvSpPr>
          <p:cNvPr id="16" name="TextBox 15"/>
          <p:cNvSpPr txBox="1"/>
          <p:nvPr/>
        </p:nvSpPr>
        <p:spPr>
          <a:xfrm>
            <a:off x="640080" y="3520439"/>
            <a:ext cx="2560320" cy="457200"/>
          </a:xfrm>
          <a:prstGeom prst="rect">
            <a:avLst/>
          </a:prstGeom>
          <a:noFill/>
        </p:spPr>
        <p:txBody>
          <a:bodyPr wrap="square">
            <a:spAutoFit/>
          </a:bodyPr>
          <a:lstStyle/>
          <a:p>
            <a:pPr algn="l">
              <a:lnSpc>
                <a:spcPct val="120000"/>
              </a:lnSpc>
              <a:spcAft>
                <a:spcPts val="200"/>
              </a:spcAft>
              <a:defRPr sz="800" b="0">
                <a:solidFill>
                  <a:srgbClr val="1A1A2E"/>
                </a:solidFill>
              </a:defRPr>
            </a:pPr>
            <a:r>
              <a:t>0.96 inch OLED 128x64 + 500mAh battery + USB-C TP4056</a:t>
            </a:r>
          </a:p>
        </p:txBody>
      </p:sp>
      <p:pic>
        <p:nvPicPr>
          <p:cNvPr id="17" name="Picture 16" descr="oled-display-ssd1306-0-96-inch-1.jpg"/>
          <p:cNvPicPr>
            <a:picLocks noChangeAspect="1"/>
          </p:cNvPicPr>
          <p:nvPr/>
        </p:nvPicPr>
        <p:blipFill>
          <a:blip r:embed="rId4"/>
          <a:stretch>
            <a:fillRect/>
          </a:stretch>
        </p:blipFill>
        <p:spPr>
          <a:xfrm>
            <a:off x="3291840" y="3337559"/>
            <a:ext cx="1371600" cy="685800"/>
          </a:xfrm>
          <a:prstGeom prst="rect">
            <a:avLst/>
          </a:prstGeom>
        </p:spPr>
      </p:pic>
      <p:sp>
        <p:nvSpPr>
          <p:cNvPr id="18" name="Rounded Rectangle 17"/>
          <p:cNvSpPr/>
          <p:nvPr/>
        </p:nvSpPr>
        <p:spPr>
          <a:xfrm>
            <a:off x="548640" y="4160520"/>
            <a:ext cx="4206240" cy="77724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206240"/>
            <a:ext cx="2560320" cy="182880"/>
          </a:xfrm>
          <a:prstGeom prst="rect">
            <a:avLst/>
          </a:prstGeom>
          <a:noFill/>
        </p:spPr>
        <p:txBody>
          <a:bodyPr wrap="square">
            <a:spAutoFit/>
          </a:bodyPr>
          <a:lstStyle/>
          <a:p>
            <a:pPr algn="l">
              <a:lnSpc>
                <a:spcPct val="120000"/>
              </a:lnSpc>
              <a:spcAft>
                <a:spcPts val="200"/>
              </a:spcAft>
              <a:defRPr sz="900" b="1">
                <a:solidFill>
                  <a:srgbClr val="00685F"/>
                </a:solidFill>
              </a:defRPr>
            </a:pPr>
            <a:r>
              <a:t>React PWA + Capacitor</a:t>
            </a:r>
          </a:p>
        </p:txBody>
      </p:sp>
      <p:sp>
        <p:nvSpPr>
          <p:cNvPr id="20" name="TextBox 19"/>
          <p:cNvSpPr txBox="1"/>
          <p:nvPr/>
        </p:nvSpPr>
        <p:spPr>
          <a:xfrm>
            <a:off x="640080" y="4389120"/>
            <a:ext cx="2560320" cy="457200"/>
          </a:xfrm>
          <a:prstGeom prst="rect">
            <a:avLst/>
          </a:prstGeom>
          <a:noFill/>
        </p:spPr>
        <p:txBody>
          <a:bodyPr wrap="square">
            <a:spAutoFit/>
          </a:bodyPr>
          <a:lstStyle/>
          <a:p>
            <a:pPr algn="l">
              <a:lnSpc>
                <a:spcPct val="120000"/>
              </a:lnSpc>
              <a:spcAft>
                <a:spcPts val="200"/>
              </a:spcAft>
              <a:defRPr sz="800" b="0">
                <a:solidFill>
                  <a:srgbClr val="1A1A2E"/>
                </a:solidFill>
              </a:defRPr>
            </a:pPr>
            <a:r>
              <a:t>TypeScript, Tailwind, IndexedDB offline, Android APK</a:t>
            </a:r>
          </a:p>
        </p:txBody>
      </p:sp>
      <p:pic>
        <p:nvPicPr>
          <p:cNvPr id="21" name="Picture 20" descr="react-js-logo-1.png"/>
          <p:cNvPicPr>
            <a:picLocks noChangeAspect="1"/>
          </p:cNvPicPr>
          <p:nvPr/>
        </p:nvPicPr>
        <p:blipFill>
          <a:blip r:embed="rId5"/>
          <a:stretch>
            <a:fillRect/>
          </a:stretch>
        </p:blipFill>
        <p:spPr>
          <a:xfrm>
            <a:off x="3291840" y="4206240"/>
            <a:ext cx="1371600" cy="685800"/>
          </a:xfrm>
          <a:prstGeom prst="rect">
            <a:avLst/>
          </a:prstGeom>
        </p:spPr>
      </p:pic>
      <p:sp>
        <p:nvSpPr>
          <p:cNvPr id="22" name="Rounded Rectangle 21"/>
          <p:cNvSpPr/>
          <p:nvPr/>
        </p:nvSpPr>
        <p:spPr>
          <a:xfrm>
            <a:off x="548640" y="5029200"/>
            <a:ext cx="4206240" cy="77724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5074920"/>
            <a:ext cx="2560320" cy="182880"/>
          </a:xfrm>
          <a:prstGeom prst="rect">
            <a:avLst/>
          </a:prstGeom>
          <a:noFill/>
        </p:spPr>
        <p:txBody>
          <a:bodyPr wrap="square">
            <a:spAutoFit/>
          </a:bodyPr>
          <a:lstStyle/>
          <a:p>
            <a:pPr algn="l">
              <a:lnSpc>
                <a:spcPct val="120000"/>
              </a:lnSpc>
              <a:spcAft>
                <a:spcPts val="200"/>
              </a:spcAft>
              <a:defRPr sz="900" b="1">
                <a:solidFill>
                  <a:srgbClr val="00685F"/>
                </a:solidFill>
              </a:defRPr>
            </a:pPr>
            <a:r>
              <a:t>MediaPipe Pose</a:t>
            </a:r>
          </a:p>
        </p:txBody>
      </p:sp>
      <p:sp>
        <p:nvSpPr>
          <p:cNvPr id="24" name="TextBox 23"/>
          <p:cNvSpPr txBox="1"/>
          <p:nvPr/>
        </p:nvSpPr>
        <p:spPr>
          <a:xfrm>
            <a:off x="640080" y="5257800"/>
            <a:ext cx="2560320" cy="457200"/>
          </a:xfrm>
          <a:prstGeom prst="rect">
            <a:avLst/>
          </a:prstGeom>
          <a:noFill/>
        </p:spPr>
        <p:txBody>
          <a:bodyPr wrap="square">
            <a:spAutoFit/>
          </a:bodyPr>
          <a:lstStyle/>
          <a:p>
            <a:pPr algn="l">
              <a:lnSpc>
                <a:spcPct val="120000"/>
              </a:lnSpc>
              <a:spcAft>
                <a:spcPts val="200"/>
              </a:spcAft>
              <a:defRPr sz="800" b="0">
                <a:solidFill>
                  <a:srgbClr val="1A1A2E"/>
                </a:solidFill>
              </a:defRPr>
            </a:pPr>
            <a:r>
              <a:t>33 body points, WASM/WebGL, zero video saved</a:t>
            </a:r>
          </a:p>
        </p:txBody>
      </p:sp>
      <p:pic>
        <p:nvPicPr>
          <p:cNvPr id="25" name="Picture 24" descr="mediapipe-pose-detection-33-landmarks-1.png"/>
          <p:cNvPicPr>
            <a:picLocks noChangeAspect="1"/>
          </p:cNvPicPr>
          <p:nvPr/>
        </p:nvPicPr>
        <p:blipFill>
          <a:blip r:embed="rId6"/>
          <a:stretch>
            <a:fillRect/>
          </a:stretch>
        </p:blipFill>
        <p:spPr>
          <a:xfrm>
            <a:off x="3291840" y="5074920"/>
            <a:ext cx="1371600" cy="685800"/>
          </a:xfrm>
          <a:prstGeom prst="rect">
            <a:avLst/>
          </a:prstGeom>
        </p:spPr>
      </p:pic>
      <p:sp>
        <p:nvSpPr>
          <p:cNvPr id="26" name="Rounded Rectangle 25"/>
          <p:cNvSpPr/>
          <p:nvPr/>
        </p:nvSpPr>
        <p:spPr>
          <a:xfrm>
            <a:off x="548640" y="5897880"/>
            <a:ext cx="4206240" cy="77724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5943600"/>
            <a:ext cx="2560320" cy="182880"/>
          </a:xfrm>
          <a:prstGeom prst="rect">
            <a:avLst/>
          </a:prstGeom>
          <a:noFill/>
        </p:spPr>
        <p:txBody>
          <a:bodyPr wrap="square">
            <a:spAutoFit/>
          </a:bodyPr>
          <a:lstStyle/>
          <a:p>
            <a:pPr algn="l">
              <a:lnSpc>
                <a:spcPct val="120000"/>
              </a:lnSpc>
              <a:spcAft>
                <a:spcPts val="200"/>
              </a:spcAft>
              <a:defRPr sz="900" b="1">
                <a:solidFill>
                  <a:srgbClr val="00685F"/>
                </a:solidFill>
              </a:defRPr>
            </a:pPr>
            <a:r>
              <a:t>Node.js + PostgreSQL</a:t>
            </a:r>
          </a:p>
        </p:txBody>
      </p:sp>
      <p:sp>
        <p:nvSpPr>
          <p:cNvPr id="28" name="TextBox 27"/>
          <p:cNvSpPr txBox="1"/>
          <p:nvPr/>
        </p:nvSpPr>
        <p:spPr>
          <a:xfrm>
            <a:off x="640080" y="6126480"/>
            <a:ext cx="2560320" cy="457200"/>
          </a:xfrm>
          <a:prstGeom prst="rect">
            <a:avLst/>
          </a:prstGeom>
          <a:noFill/>
        </p:spPr>
        <p:txBody>
          <a:bodyPr wrap="square">
            <a:spAutoFit/>
          </a:bodyPr>
          <a:lstStyle/>
          <a:p>
            <a:pPr algn="l">
              <a:lnSpc>
                <a:spcPct val="120000"/>
              </a:lnSpc>
              <a:spcAft>
                <a:spcPts val="200"/>
              </a:spcAft>
              <a:defRPr sz="800" b="0">
                <a:solidFill>
                  <a:srgbClr val="1A1A2E"/>
                </a:solidFill>
              </a:defRPr>
            </a:pPr>
            <a:r>
              <a:t>Express, Prisma, Neon Cloud, Recharts, JWT auth</a:t>
            </a:r>
          </a:p>
        </p:txBody>
      </p:sp>
      <p:pic>
        <p:nvPicPr>
          <p:cNvPr id="29" name="Picture 28" descr="node-js-postgresql-logo-tech-stack-1.jpg"/>
          <p:cNvPicPr>
            <a:picLocks noChangeAspect="1"/>
          </p:cNvPicPr>
          <p:nvPr/>
        </p:nvPicPr>
        <p:blipFill>
          <a:blip r:embed="rId7"/>
          <a:stretch>
            <a:fillRect/>
          </a:stretch>
        </p:blipFill>
        <p:spPr>
          <a:xfrm>
            <a:off x="3291840" y="5943600"/>
            <a:ext cx="1371600" cy="685800"/>
          </a:xfrm>
          <a:prstGeom prst="rect">
            <a:avLst/>
          </a:prstGeom>
        </p:spPr>
      </p:pic>
      <p:sp>
        <p:nvSpPr>
          <p:cNvPr id="30" name="TextBox 29"/>
          <p:cNvSpPr txBox="1"/>
          <p:nvPr/>
        </p:nvSpPr>
        <p:spPr>
          <a:xfrm>
            <a:off x="5303520" y="1097280"/>
            <a:ext cx="6400800" cy="274320"/>
          </a:xfrm>
          <a:prstGeom prst="rect">
            <a:avLst/>
          </a:prstGeom>
          <a:noFill/>
        </p:spPr>
        <p:txBody>
          <a:bodyPr wrap="square">
            <a:spAutoFit/>
          </a:bodyPr>
          <a:lstStyle/>
          <a:p>
            <a:pPr algn="l">
              <a:lnSpc>
                <a:spcPct val="120000"/>
              </a:lnSpc>
              <a:spcAft>
                <a:spcPts val="200"/>
              </a:spcAft>
              <a:defRPr sz="1100" b="1">
                <a:solidFill>
                  <a:srgbClr val="00685F"/>
                </a:solidFill>
              </a:defRPr>
            </a:pPr>
            <a:r>
              <a:t>Workflow - 6 Steps Flowchart (Shapes Only)</a:t>
            </a:r>
          </a:p>
        </p:txBody>
      </p:sp>
      <p:sp>
        <p:nvSpPr>
          <p:cNvPr id="31" name="Rounded Rectangle 30"/>
          <p:cNvSpPr/>
          <p:nvPr/>
        </p:nvSpPr>
        <p:spPr>
          <a:xfrm>
            <a:off x="5303520" y="1554480"/>
            <a:ext cx="1051560" cy="1280160"/>
          </a:xfrm>
          <a:prstGeom prst="roundRect">
            <a:avLst/>
          </a:prstGeom>
          <a:solidFill>
            <a:srgbClr val="D5F8F5"/>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0">
                <a:solidFill>
                  <a:srgbClr val="1A1A2E"/>
                </a:solidFill>
              </a:defRPr>
            </a:pPr>
            <a:r>
              <a:t>Step 1</a:t>
            </a:r>
            <a:br/>
            <a:r>
              <a:t>Place Band</a:t>
            </a:r>
            <a:br/>
            <a:br/>
            <a:r>
              <a:t>2cm below knee</a:t>
            </a:r>
            <a:br/>
            <a:r>
              <a:t>shin bone</a:t>
            </a:r>
          </a:p>
        </p:txBody>
      </p:sp>
      <p:sp>
        <p:nvSpPr>
          <p:cNvPr id="32" name="Right Arrow 31"/>
          <p:cNvSpPr/>
          <p:nvPr/>
        </p:nvSpPr>
        <p:spPr>
          <a:xfrm>
            <a:off x="6355079" y="2011680"/>
            <a:ext cx="182880" cy="137160"/>
          </a:xfrm>
          <a:prstGeom prst="rightArrow">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583679" y="1554480"/>
            <a:ext cx="1051560" cy="1280160"/>
          </a:xfrm>
          <a:prstGeom prst="roundRect">
            <a:avLst/>
          </a:prstGeom>
          <a:solidFill>
            <a:srgbClr val="99EFE5"/>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0">
                <a:solidFill>
                  <a:srgbClr val="1A1A2E"/>
                </a:solidFill>
              </a:defRPr>
            </a:pPr>
            <a:r>
              <a:t>Step 2</a:t>
            </a:r>
            <a:br/>
            <a:r>
              <a:t>Read Sensor</a:t>
            </a:r>
            <a:br/>
            <a:br/>
            <a:r>
              <a:t>100/sec</a:t>
            </a:r>
            <a:br/>
            <a:r>
              <a:t>10ms timer</a:t>
            </a:r>
          </a:p>
        </p:txBody>
      </p:sp>
      <p:sp>
        <p:nvSpPr>
          <p:cNvPr id="34" name="Right Arrow 33"/>
          <p:cNvSpPr/>
          <p:nvPr/>
        </p:nvSpPr>
        <p:spPr>
          <a:xfrm>
            <a:off x="7635240" y="2011680"/>
            <a:ext cx="182880" cy="137160"/>
          </a:xfrm>
          <a:prstGeom prst="rightArrow">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7863840" y="1554480"/>
            <a:ext cx="1051560" cy="128016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0">
                <a:solidFill>
                  <a:srgbClr val="1A1A2E"/>
                </a:solidFill>
              </a:defRPr>
            </a:pPr>
            <a:r>
              <a:t>Step 3</a:t>
            </a:r>
            <a:br/>
            <a:r>
              <a:t>BLE Send</a:t>
            </a:r>
            <a:br/>
            <a:br/>
            <a:r>
              <a:t>16-byte binary</a:t>
            </a:r>
            <a:br/>
            <a:r>
              <a:t>1.6KB/s</a:t>
            </a:r>
          </a:p>
        </p:txBody>
      </p:sp>
      <p:sp>
        <p:nvSpPr>
          <p:cNvPr id="36" name="Right Arrow 35"/>
          <p:cNvSpPr/>
          <p:nvPr/>
        </p:nvSpPr>
        <p:spPr>
          <a:xfrm>
            <a:off x="8915400" y="2011680"/>
            <a:ext cx="182880" cy="137160"/>
          </a:xfrm>
          <a:prstGeom prst="rightArrow">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9144000" y="1554480"/>
            <a:ext cx="1051560" cy="128016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0">
                <a:solidFill>
                  <a:srgbClr val="1A1A2E"/>
                </a:solidFill>
              </a:defRPr>
            </a:pPr>
            <a:r>
              <a:t>Step 4</a:t>
            </a:r>
            <a:br/>
            <a:r>
              <a:t>Zero Set</a:t>
            </a:r>
            <a:br/>
            <a:br/>
            <a:r>
              <a:t>Stand 3 sec</a:t>
            </a:r>
            <a:br/>
            <a:r>
              <a:t>lock gravity</a:t>
            </a:r>
          </a:p>
        </p:txBody>
      </p:sp>
      <p:sp>
        <p:nvSpPr>
          <p:cNvPr id="38" name="Right Arrow 37"/>
          <p:cNvSpPr/>
          <p:nvPr/>
        </p:nvSpPr>
        <p:spPr>
          <a:xfrm>
            <a:off x="10195560" y="2011680"/>
            <a:ext cx="182880" cy="137160"/>
          </a:xfrm>
          <a:prstGeom prst="rightArrow">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10424160" y="1554480"/>
            <a:ext cx="1051560" cy="128016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0">
                <a:solidFill>
                  <a:srgbClr val="1A1A2E"/>
                </a:solidFill>
              </a:defRPr>
            </a:pPr>
            <a:r>
              <a:t>Step 5</a:t>
            </a:r>
            <a:br/>
            <a:r>
              <a:t>Walk + Camera</a:t>
            </a:r>
            <a:br/>
            <a:br/>
            <a:r>
              <a:t>30 sec walk</a:t>
            </a:r>
            <a:br/>
            <a:r>
              <a:t>33 points</a:t>
            </a:r>
          </a:p>
        </p:txBody>
      </p:sp>
      <p:sp>
        <p:nvSpPr>
          <p:cNvPr id="40" name="Right Arrow 39"/>
          <p:cNvSpPr/>
          <p:nvPr/>
        </p:nvSpPr>
        <p:spPr>
          <a:xfrm>
            <a:off x="11475720" y="2011680"/>
            <a:ext cx="182880" cy="137160"/>
          </a:xfrm>
          <a:prstGeom prst="rightArrow">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11704320" y="1554480"/>
            <a:ext cx="1051560" cy="1280160"/>
          </a:xfrm>
          <a:prstGeom prst="roundRect">
            <a:avLst/>
          </a:prstGeom>
          <a:solidFill>
            <a:srgbClr val="00685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0">
                <a:solidFill>
                  <a:srgbClr val="FFFFFF"/>
                </a:solidFill>
              </a:defRPr>
            </a:pPr>
            <a:r>
              <a:t>Step 6</a:t>
            </a:r>
            <a:br/>
            <a:r>
              <a:t>Result + QR</a:t>
            </a:r>
            <a:br/>
            <a:br/>
            <a:r>
              <a:t>Green/Yellow/Red</a:t>
            </a:r>
            <a:br/>
            <a:r>
              <a:t>Encrypted QR</a:t>
            </a:r>
          </a:p>
        </p:txBody>
      </p:sp>
      <p:sp>
        <p:nvSpPr>
          <p:cNvPr id="42" name="Rounded Rectangle 41"/>
          <p:cNvSpPr/>
          <p:nvPr/>
        </p:nvSpPr>
        <p:spPr>
          <a:xfrm>
            <a:off x="5303520" y="3017520"/>
            <a:ext cx="6492240" cy="356616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0" y="3108960"/>
            <a:ext cx="6126480" cy="274320"/>
          </a:xfrm>
          <a:prstGeom prst="rect">
            <a:avLst/>
          </a:prstGeom>
          <a:noFill/>
        </p:spPr>
        <p:txBody>
          <a:bodyPr wrap="square">
            <a:spAutoFit/>
          </a:bodyPr>
          <a:lstStyle/>
          <a:p>
            <a:pPr algn="l">
              <a:lnSpc>
                <a:spcPct val="120000"/>
              </a:lnSpc>
              <a:spcAft>
                <a:spcPts val="200"/>
              </a:spcAft>
              <a:defRPr sz="1000" b="1">
                <a:solidFill>
                  <a:srgbClr val="00685F"/>
                </a:solidFill>
              </a:defRPr>
            </a:pPr>
            <a:r>
              <a:t>Detailed 20-Feature Flow (Original Wording - No Copy)</a:t>
            </a:r>
          </a:p>
        </p:txBody>
      </p:sp>
      <p:sp>
        <p:nvSpPr>
          <p:cNvPr id="44" name="TextBox 43"/>
          <p:cNvSpPr txBox="1"/>
          <p:nvPr/>
        </p:nvSpPr>
        <p:spPr>
          <a:xfrm>
            <a:off x="5486400" y="3474720"/>
            <a:ext cx="6126480" cy="2926080"/>
          </a:xfrm>
          <a:prstGeom prst="rect">
            <a:avLst/>
          </a:prstGeom>
          <a:noFill/>
        </p:spPr>
        <p:txBody>
          <a:bodyPr wrap="square">
            <a:spAutoFit/>
          </a:bodyPr>
          <a:lstStyle/>
          <a:p>
            <a:pPr algn="l">
              <a:lnSpc>
                <a:spcPct val="120000"/>
              </a:lnSpc>
              <a:spcAft>
                <a:spcPts val="200"/>
              </a:spcAft>
              <a:defRPr sz="800" b="0">
                <a:solidFill>
                  <a:srgbClr val="1A1A2E"/>
                </a:solidFill>
              </a:defRPr>
            </a:pPr>
            <a:r>
              <a:t>Login with demo mode -&gt; Language selection with voice -&gt; Dashboard with greeting, new screening button, sync status, active alert</a:t>
            </a:r>
            <a:br/>
            <a:r>
              <a:t>-&gt; 3-step registration (name, age, sex, village, PHC, Health ID) -&gt; BMI auto with load flags -&gt; History (injuries, family) -&gt; Records (searchable) -&gt; Awareness cards</a:t>
            </a:r>
            <a:br/>
            <a:r>
              <a:t>-&gt; Joint selector (Knee/Hip/Hand/Spine, L/R/Both) -&gt; 8 daily-life questions -&gt; BLE pairing (battery %, simulation) -&gt; 4-step calibration (strap location, stand 3 sec, lock gravity, ready)</a:t>
            </a:r>
            <a:br/>
            <a:r>
              <a:t>-&gt; 30 sec walk (countdown, live 60 FPS chart, 380ms step filter, 8 sec guard) -&gt; Camera ROM + chair-stand (33 points, zero video)</a:t>
            </a:r>
            <a:br/>
            <a:r>
              <a:t>-&gt; 20 sec result Green/Yellow/Red/Gray -&gt; Numbers (shock Good/Moderate/Severe, twist, cartilage %, rhythm) -&gt; Audio guidance + exercises + WhatsApp + report + encrypted QR offline</a:t>
            </a:r>
            <a:br/>
            <a:r>
              <a:t>-&gt; Offline storage -&gt; Auto sync when online -&gt; PHC dashboard (Saran): village maps, high-risk queue, charts, ASHA monitor, camp scheduler</a:t>
            </a:r>
            <a:br/>
            <a:br/>
            <a:r>
              <a:t>All flowcharts made with PowerPoint shapes, no AI images. Real hardware photos only.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822960"/>
          </a:xfrm>
          <a:prstGeom prst="roundRect">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48640"/>
          </a:xfrm>
          <a:prstGeom prst="rect">
            <a:avLst/>
          </a:prstGeom>
          <a:noFill/>
        </p:spPr>
        <p:txBody>
          <a:bodyPr wrap="square">
            <a:spAutoFit/>
          </a:bodyPr>
          <a:lstStyle/>
          <a:p>
            <a:pPr algn="l">
              <a:lnSpc>
                <a:spcPct val="120000"/>
              </a:lnSpc>
              <a:spcAft>
                <a:spcPts val="200"/>
              </a:spcAft>
              <a:defRPr sz="1800" b="1">
                <a:solidFill>
                  <a:srgbClr val="FFFFFF"/>
                </a:solidFill>
              </a:defRPr>
            </a:pPr>
            <a:r>
              <a:t>6. Screenshots - Attach Your Original App UI and Dashboard (No AI Images)</a:t>
            </a:r>
          </a:p>
        </p:txBody>
      </p:sp>
      <p:sp>
        <p:nvSpPr>
          <p:cNvPr id="4" name="TextBox 3"/>
          <p:cNvSpPr txBox="1"/>
          <p:nvPr/>
        </p:nvSpPr>
        <p:spPr>
          <a:xfrm>
            <a:off x="457200" y="1005840"/>
            <a:ext cx="10972800" cy="274320"/>
          </a:xfrm>
          <a:prstGeom prst="rect">
            <a:avLst/>
          </a:prstGeom>
          <a:noFill/>
        </p:spPr>
        <p:txBody>
          <a:bodyPr wrap="square">
            <a:spAutoFit/>
          </a:bodyPr>
          <a:lstStyle/>
          <a:p>
            <a:pPr algn="l">
              <a:lnSpc>
                <a:spcPct val="120000"/>
              </a:lnSpc>
              <a:spcAft>
                <a:spcPts val="200"/>
              </a:spcAft>
              <a:defRPr sz="1100" b="1">
                <a:solidFill>
                  <a:srgbClr val="00685F"/>
                </a:solidFill>
              </a:defRPr>
            </a:pPr>
            <a:r>
              <a:t>Mobile App - Your Original Screenshots (20 Features)</a:t>
            </a:r>
          </a:p>
        </p:txBody>
      </p:sp>
      <p:sp>
        <p:nvSpPr>
          <p:cNvPr id="5" name="Rounded Rectangle 4"/>
          <p:cNvSpPr/>
          <p:nvPr/>
        </p:nvSpPr>
        <p:spPr>
          <a:xfrm>
            <a:off x="365760" y="1371600"/>
            <a:ext cx="1828800" cy="2011680"/>
          </a:xfrm>
          <a:prstGeom prst="roundRect">
            <a:avLst/>
          </a:prstGeom>
          <a:solidFill>
            <a:srgbClr val="FFFFFF"/>
          </a:solidFill>
          <a:ln w="1905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685F"/>
                </a:solidFill>
              </a:defRPr>
            </a:pPr>
            <a:r>
              <a:t>📱 Login / Demo Mode</a:t>
            </a:r>
            <a:br/>
            <a:r>
              <a:t>Feature 1 - Your Screenshot</a:t>
            </a:r>
            <a:br/>
            <a:br/>
            <a:r>
              <a:t>[Attach Your Screenshot Here]</a:t>
            </a:r>
            <a:br/>
            <a:r>
              <a:t>(Your Original App UI)</a:t>
            </a:r>
          </a:p>
        </p:txBody>
      </p:sp>
      <p:sp>
        <p:nvSpPr>
          <p:cNvPr id="6" name="Rounded Rectangle 5"/>
          <p:cNvSpPr/>
          <p:nvPr/>
        </p:nvSpPr>
        <p:spPr>
          <a:xfrm>
            <a:off x="2377440" y="1371600"/>
            <a:ext cx="1828800" cy="2011680"/>
          </a:xfrm>
          <a:prstGeom prst="roundRect">
            <a:avLst/>
          </a:prstGeom>
          <a:solidFill>
            <a:srgbClr val="FFFFFF"/>
          </a:solidFill>
          <a:ln w="1905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685F"/>
                </a:solidFill>
              </a:defRPr>
            </a:pPr>
            <a:r>
              <a:t>📱 Language + Voice</a:t>
            </a:r>
            <a:br/>
            <a:r>
              <a:t>Feature 2 - Your Screenshot</a:t>
            </a:r>
            <a:br/>
            <a:br/>
            <a:r>
              <a:t>[Attach Your Screenshot Here]</a:t>
            </a:r>
            <a:br/>
            <a:r>
              <a:t>(Your Original App UI)</a:t>
            </a:r>
          </a:p>
        </p:txBody>
      </p:sp>
      <p:sp>
        <p:nvSpPr>
          <p:cNvPr id="7" name="Rounded Rectangle 6"/>
          <p:cNvSpPr/>
          <p:nvPr/>
        </p:nvSpPr>
        <p:spPr>
          <a:xfrm>
            <a:off x="4389120" y="1371600"/>
            <a:ext cx="1828800" cy="2011680"/>
          </a:xfrm>
          <a:prstGeom prst="roundRect">
            <a:avLst/>
          </a:prstGeom>
          <a:solidFill>
            <a:srgbClr val="FFFFFF"/>
          </a:solidFill>
          <a:ln w="1905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685F"/>
                </a:solidFill>
              </a:defRPr>
            </a:pPr>
            <a:r>
              <a:t>📱 Dashboard</a:t>
            </a:r>
            <a:br/>
            <a:r>
              <a:t>Subh Prabhat + Sync</a:t>
            </a:r>
            <a:br/>
            <a:r>
              <a:t>Feature 3 - Your Screenshot</a:t>
            </a:r>
            <a:br/>
            <a:br/>
            <a:r>
              <a:t>[Attach Your Screenshot Here]</a:t>
            </a:r>
            <a:br/>
            <a:r>
              <a:t>(Your Original App UI)</a:t>
            </a:r>
          </a:p>
        </p:txBody>
      </p:sp>
      <p:sp>
        <p:nvSpPr>
          <p:cNvPr id="8" name="Rounded Rectangle 7"/>
          <p:cNvSpPr/>
          <p:nvPr/>
        </p:nvSpPr>
        <p:spPr>
          <a:xfrm>
            <a:off x="6400800" y="1371600"/>
            <a:ext cx="1828800" cy="2011680"/>
          </a:xfrm>
          <a:prstGeom prst="roundRect">
            <a:avLst/>
          </a:prstGeom>
          <a:solidFill>
            <a:srgbClr val="FFFFFF"/>
          </a:solidFill>
          <a:ln w="1905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685F"/>
                </a:solidFill>
              </a:defRPr>
            </a:pPr>
            <a:r>
              <a:t>📱 Registration + BMI</a:t>
            </a:r>
            <a:br/>
            <a:r>
              <a:t>Features 4-5 - Your Screenshot</a:t>
            </a:r>
            <a:br/>
            <a:br/>
            <a:r>
              <a:t>[Attach Your Screenshot Here]</a:t>
            </a:r>
            <a:br/>
            <a:r>
              <a:t>(Your Original App UI)</a:t>
            </a:r>
          </a:p>
        </p:txBody>
      </p:sp>
      <p:sp>
        <p:nvSpPr>
          <p:cNvPr id="9" name="Rounded Rectangle 8"/>
          <p:cNvSpPr/>
          <p:nvPr/>
        </p:nvSpPr>
        <p:spPr>
          <a:xfrm>
            <a:off x="8412480" y="1371600"/>
            <a:ext cx="1828800" cy="2011680"/>
          </a:xfrm>
          <a:prstGeom prst="roundRect">
            <a:avLst/>
          </a:prstGeom>
          <a:solidFill>
            <a:srgbClr val="FFFFFF"/>
          </a:solidFill>
          <a:ln w="1905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685F"/>
                </a:solidFill>
              </a:defRPr>
            </a:pPr>
            <a:r>
              <a:t>📱 History + Awareness</a:t>
            </a:r>
            <a:br/>
            <a:r>
              <a:t>Features 6-8 - Your Screenshot</a:t>
            </a:r>
            <a:br/>
            <a:br/>
            <a:r>
              <a:t>[Attach Your Screenshot Here]</a:t>
            </a:r>
            <a:br/>
            <a:r>
              <a:t>(Your Original App UI)</a:t>
            </a:r>
          </a:p>
        </p:txBody>
      </p:sp>
      <p:sp>
        <p:nvSpPr>
          <p:cNvPr id="10" name="Rounded Rectangle 9"/>
          <p:cNvSpPr/>
          <p:nvPr/>
        </p:nvSpPr>
        <p:spPr>
          <a:xfrm>
            <a:off x="10424160" y="1371600"/>
            <a:ext cx="1371600" cy="2011680"/>
          </a:xfrm>
          <a:prstGeom prst="roundRect">
            <a:avLst/>
          </a:prstGeom>
          <a:solidFill>
            <a:srgbClr val="FFFFFF"/>
          </a:solidFill>
          <a:ln w="1905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685F"/>
                </a:solidFill>
              </a:defRPr>
            </a:pPr>
            <a:r>
              <a:t>📱 Joint Selector</a:t>
            </a:r>
            <a:br/>
            <a:r>
              <a:t>Feature 9 - Your Screenshot</a:t>
            </a:r>
            <a:br/>
            <a:br/>
            <a:r>
              <a:t>[Attach Your Screenshot Here]</a:t>
            </a:r>
            <a:br/>
            <a:r>
              <a:t>(Your Original App UI)</a:t>
            </a:r>
          </a:p>
        </p:txBody>
      </p:sp>
      <p:sp>
        <p:nvSpPr>
          <p:cNvPr id="11" name="TextBox 10"/>
          <p:cNvSpPr txBox="1"/>
          <p:nvPr/>
        </p:nvSpPr>
        <p:spPr>
          <a:xfrm>
            <a:off x="457200" y="3566160"/>
            <a:ext cx="10972800" cy="274320"/>
          </a:xfrm>
          <a:prstGeom prst="rect">
            <a:avLst/>
          </a:prstGeom>
          <a:noFill/>
        </p:spPr>
        <p:txBody>
          <a:bodyPr wrap="square">
            <a:spAutoFit/>
          </a:bodyPr>
          <a:lstStyle/>
          <a:p>
            <a:pPr algn="l">
              <a:lnSpc>
                <a:spcPct val="120000"/>
              </a:lnSpc>
              <a:spcAft>
                <a:spcPts val="200"/>
              </a:spcAft>
              <a:defRPr sz="1100" b="1">
                <a:solidFill>
                  <a:srgbClr val="00685F"/>
                </a:solidFill>
              </a:defRPr>
            </a:pPr>
            <a:r>
              <a:t>More App + PHC Dashboard (Saran's Original Work)</a:t>
            </a:r>
          </a:p>
        </p:txBody>
      </p:sp>
      <p:sp>
        <p:nvSpPr>
          <p:cNvPr id="12" name="Rounded Rectangle 11"/>
          <p:cNvSpPr/>
          <p:nvPr/>
        </p:nvSpPr>
        <p:spPr>
          <a:xfrm>
            <a:off x="365760" y="3931920"/>
            <a:ext cx="1828800" cy="2560320"/>
          </a:xfrm>
          <a:prstGeom prst="roundRect">
            <a:avLst/>
          </a:prstGeom>
          <a:solidFill>
            <a:srgbClr val="FFFFFF"/>
          </a:solidFill>
          <a:ln w="1905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685F"/>
                </a:solidFill>
              </a:defRPr>
            </a:pPr>
            <a:r>
              <a:t>📱 8 Questions</a:t>
            </a:r>
            <a:br/>
            <a:r>
              <a:t>Feature 10 - Your Screenshot</a:t>
            </a:r>
            <a:br/>
            <a:br/>
            <a:r>
              <a:t>[Attach Your Screenshot Here]</a:t>
            </a:r>
            <a:br/>
            <a:r>
              <a:t>(Your Original App UI)</a:t>
            </a:r>
          </a:p>
        </p:txBody>
      </p:sp>
      <p:sp>
        <p:nvSpPr>
          <p:cNvPr id="13" name="Rounded Rectangle 12"/>
          <p:cNvSpPr/>
          <p:nvPr/>
        </p:nvSpPr>
        <p:spPr>
          <a:xfrm>
            <a:off x="2377440" y="3931920"/>
            <a:ext cx="1828800" cy="2560320"/>
          </a:xfrm>
          <a:prstGeom prst="roundRect">
            <a:avLst/>
          </a:prstGeom>
          <a:solidFill>
            <a:srgbClr val="FFFFFF"/>
          </a:solidFill>
          <a:ln w="1905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685F"/>
                </a:solidFill>
              </a:defRPr>
            </a:pPr>
            <a:r>
              <a:t>📱 BLE Pair + Calibration</a:t>
            </a:r>
            <a:br/>
            <a:r>
              <a:t>Features 11-12 - Your Screenshot</a:t>
            </a:r>
            <a:br/>
            <a:br/>
            <a:r>
              <a:t>[Attach Your Screenshot Here]</a:t>
            </a:r>
            <a:br/>
            <a:r>
              <a:t>(Your Original App UI)</a:t>
            </a:r>
          </a:p>
        </p:txBody>
      </p:sp>
      <p:sp>
        <p:nvSpPr>
          <p:cNvPr id="14" name="Rounded Rectangle 13"/>
          <p:cNvSpPr/>
          <p:nvPr/>
        </p:nvSpPr>
        <p:spPr>
          <a:xfrm>
            <a:off x="4389120" y="3931920"/>
            <a:ext cx="1828800" cy="2560320"/>
          </a:xfrm>
          <a:prstGeom prst="roundRect">
            <a:avLst/>
          </a:prstGeom>
          <a:solidFill>
            <a:srgbClr val="FFFFFF"/>
          </a:solidFill>
          <a:ln w="1905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685F"/>
                </a:solidFill>
              </a:defRPr>
            </a:pPr>
            <a:r>
              <a:t>📱 30s Walk Live Chart</a:t>
            </a:r>
            <a:br/>
            <a:r>
              <a:t>Feature 13 - Your Screenshot</a:t>
            </a:r>
            <a:br/>
            <a:br/>
            <a:r>
              <a:t>[Attach Your Screenshot Here]</a:t>
            </a:r>
            <a:br/>
            <a:r>
              <a:t>(Your Original App UI)</a:t>
            </a:r>
          </a:p>
        </p:txBody>
      </p:sp>
      <p:sp>
        <p:nvSpPr>
          <p:cNvPr id="15" name="Rounded Rectangle 14"/>
          <p:cNvSpPr/>
          <p:nvPr/>
        </p:nvSpPr>
        <p:spPr>
          <a:xfrm>
            <a:off x="6400800" y="3931920"/>
            <a:ext cx="1828800" cy="2560320"/>
          </a:xfrm>
          <a:prstGeom prst="roundRect">
            <a:avLst/>
          </a:prstGeom>
          <a:solidFill>
            <a:srgbClr val="FFFFFF"/>
          </a:solidFill>
          <a:ln w="1905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685F"/>
                </a:solidFill>
              </a:defRPr>
            </a:pPr>
            <a:r>
              <a:t>📱 Camera ROM + Chair-Stand</a:t>
            </a:r>
            <a:br/>
            <a:r>
              <a:t>Feature 14 - Your Screenshot</a:t>
            </a:r>
            <a:br/>
            <a:br/>
            <a:r>
              <a:t>[Attach Your Screenshot Here]</a:t>
            </a:r>
            <a:br/>
            <a:r>
              <a:t>(Your Original App UI)</a:t>
            </a:r>
          </a:p>
        </p:txBody>
      </p:sp>
      <p:sp>
        <p:nvSpPr>
          <p:cNvPr id="16" name="Rounded Rectangle 15"/>
          <p:cNvSpPr/>
          <p:nvPr/>
        </p:nvSpPr>
        <p:spPr>
          <a:xfrm>
            <a:off x="8412480" y="3931920"/>
            <a:ext cx="1828800" cy="2560320"/>
          </a:xfrm>
          <a:prstGeom prst="roundRect">
            <a:avLst/>
          </a:prstGeom>
          <a:solidFill>
            <a:srgbClr val="FFFFFF"/>
          </a:solidFill>
          <a:ln w="1905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685F"/>
                </a:solidFill>
              </a:defRPr>
            </a:pPr>
            <a:r>
              <a:t>📱 Result + Biomarkers</a:t>
            </a:r>
            <a:br/>
            <a:r>
              <a:t>Features 15-16 - Your Screenshot</a:t>
            </a:r>
            <a:br/>
            <a:br/>
            <a:r>
              <a:t>[Attach Your Screenshot Here]</a:t>
            </a:r>
            <a:br/>
            <a:r>
              <a:t>(Your Original App UI)</a:t>
            </a:r>
          </a:p>
        </p:txBody>
      </p:sp>
      <p:sp>
        <p:nvSpPr>
          <p:cNvPr id="17" name="Rounded Rectangle 16"/>
          <p:cNvSpPr/>
          <p:nvPr/>
        </p:nvSpPr>
        <p:spPr>
          <a:xfrm>
            <a:off x="10424160" y="3931920"/>
            <a:ext cx="1371600" cy="2560320"/>
          </a:xfrm>
          <a:prstGeom prst="roundRect">
            <a:avLst/>
          </a:prstGeom>
          <a:solidFill>
            <a:srgbClr val="FFFFFF"/>
          </a:solidFill>
          <a:ln w="1905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685F"/>
                </a:solidFill>
              </a:defRPr>
            </a:pPr>
            <a:r>
              <a:t>📱 QR + Report + Exercises</a:t>
            </a:r>
            <a:br/>
            <a:r>
              <a:t>Features 17-19 - Your Screenshot</a:t>
            </a:r>
            <a:br/>
            <a:br/>
            <a:r>
              <a:t>[Attach Your Screenshot Here]</a:t>
            </a:r>
            <a:br/>
            <a:r>
              <a:t>(Your Original App UI)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822960"/>
          </a:xfrm>
          <a:prstGeom prst="roundRect">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48640"/>
          </a:xfrm>
          <a:prstGeom prst="rect">
            <a:avLst/>
          </a:prstGeom>
          <a:noFill/>
        </p:spPr>
        <p:txBody>
          <a:bodyPr wrap="square">
            <a:spAutoFit/>
          </a:bodyPr>
          <a:lstStyle/>
          <a:p>
            <a:pPr algn="l">
              <a:lnSpc>
                <a:spcPct val="120000"/>
              </a:lnSpc>
              <a:spcAft>
                <a:spcPts val="200"/>
              </a:spcAft>
              <a:defRPr sz="1800" b="1">
                <a:solidFill>
                  <a:srgbClr val="FFFFFF"/>
                </a:solidFill>
              </a:defRPr>
            </a:pPr>
            <a:r>
              <a:t>7. PHC Dashboard - Saran's Original Work (Attach Real Screenshots)</a:t>
            </a:r>
          </a:p>
        </p:txBody>
      </p:sp>
      <p:sp>
        <p:nvSpPr>
          <p:cNvPr id="4" name="Rounded Rectangle 3"/>
          <p:cNvSpPr/>
          <p:nvPr/>
        </p:nvSpPr>
        <p:spPr>
          <a:xfrm>
            <a:off x="365760" y="1097280"/>
            <a:ext cx="3657600" cy="2560320"/>
          </a:xfrm>
          <a:prstGeom prst="roundRect">
            <a:avLst/>
          </a:prstGeom>
          <a:solidFill>
            <a:srgbClr val="FFFFFF"/>
          </a:solidFill>
          <a:ln w="1905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685F"/>
                </a:solidFill>
              </a:defRPr>
            </a:pPr>
            <a:r>
              <a:t>📱 Village Heatmaps</a:t>
            </a:r>
            <a:br/>
            <a:r>
              <a:t>Rampur/Chandpur/Sonapur</a:t>
            </a:r>
            <a:br/>
            <a:r>
              <a:t>Saran's Dashboard Screenshot</a:t>
            </a:r>
            <a:br/>
            <a:br/>
            <a:r>
              <a:t>[Attach Your Screenshot Here]</a:t>
            </a:r>
            <a:br/>
            <a:r>
              <a:t>(Your Original App UI)</a:t>
            </a:r>
          </a:p>
        </p:txBody>
      </p:sp>
      <p:sp>
        <p:nvSpPr>
          <p:cNvPr id="5" name="Rounded Rectangle 4"/>
          <p:cNvSpPr/>
          <p:nvPr/>
        </p:nvSpPr>
        <p:spPr>
          <a:xfrm>
            <a:off x="4206240" y="1097280"/>
            <a:ext cx="3657600" cy="2560320"/>
          </a:xfrm>
          <a:prstGeom prst="roundRect">
            <a:avLst/>
          </a:prstGeom>
          <a:solidFill>
            <a:srgbClr val="FFFFFF"/>
          </a:solidFill>
          <a:ln w="1905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685F"/>
                </a:solidFill>
              </a:defRPr>
            </a:pPr>
            <a:r>
              <a:t>📱 High-Risk Queue</a:t>
            </a:r>
            <a:br/>
            <a:r>
              <a:t>14-Day Alert</a:t>
            </a:r>
            <a:br/>
            <a:r>
              <a:t>Saran's Dashboard Screenshot</a:t>
            </a:r>
            <a:br/>
            <a:br/>
            <a:r>
              <a:t>[Attach Your Screenshot Here]</a:t>
            </a:r>
            <a:br/>
            <a:r>
              <a:t>(Your Original App UI)</a:t>
            </a:r>
          </a:p>
        </p:txBody>
      </p:sp>
      <p:sp>
        <p:nvSpPr>
          <p:cNvPr id="6" name="Rounded Rectangle 5"/>
          <p:cNvSpPr/>
          <p:nvPr/>
        </p:nvSpPr>
        <p:spPr>
          <a:xfrm>
            <a:off x="8138160" y="1097280"/>
            <a:ext cx="3657600" cy="2560320"/>
          </a:xfrm>
          <a:prstGeom prst="roundRect">
            <a:avLst/>
          </a:prstGeom>
          <a:solidFill>
            <a:srgbClr val="FFFFFF"/>
          </a:solidFill>
          <a:ln w="1905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685F"/>
                </a:solidFill>
              </a:defRPr>
            </a:pPr>
            <a:r>
              <a:t>📱 Risk Distribution Charts</a:t>
            </a:r>
            <a:br/>
            <a:r>
              <a:t>Green/Yellow/Red</a:t>
            </a:r>
            <a:br/>
            <a:r>
              <a:t>Saran's Dashboard Screenshot</a:t>
            </a:r>
            <a:br/>
            <a:br/>
            <a:r>
              <a:t>[Attach Your Screenshot Here]</a:t>
            </a:r>
            <a:br/>
            <a:r>
              <a:t>(Your Original App UI)</a:t>
            </a:r>
          </a:p>
        </p:txBody>
      </p:sp>
      <p:sp>
        <p:nvSpPr>
          <p:cNvPr id="7" name="Rounded Rectangle 6"/>
          <p:cNvSpPr/>
          <p:nvPr/>
        </p:nvSpPr>
        <p:spPr>
          <a:xfrm>
            <a:off x="365760" y="3840480"/>
            <a:ext cx="3657600" cy="2560320"/>
          </a:xfrm>
          <a:prstGeom prst="roundRect">
            <a:avLst/>
          </a:prstGeom>
          <a:solidFill>
            <a:srgbClr val="FFFFFF"/>
          </a:solidFill>
          <a:ln w="1905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685F"/>
                </a:solidFill>
              </a:defRPr>
            </a:pPr>
            <a:r>
              <a:t>📱 ASHA Activity Monitor</a:t>
            </a:r>
            <a:br/>
            <a:r>
              <a:t>Screenings/month</a:t>
            </a:r>
            <a:br/>
            <a:r>
              <a:t>Saran's Dashboard Screenshot</a:t>
            </a:r>
            <a:br/>
            <a:br/>
            <a:r>
              <a:t>[Attach Your Screenshot Here]</a:t>
            </a:r>
            <a:br/>
            <a:r>
              <a:t>(Your Original App UI)</a:t>
            </a:r>
          </a:p>
        </p:txBody>
      </p:sp>
      <p:sp>
        <p:nvSpPr>
          <p:cNvPr id="8" name="Rounded Rectangle 7"/>
          <p:cNvSpPr/>
          <p:nvPr/>
        </p:nvSpPr>
        <p:spPr>
          <a:xfrm>
            <a:off x="4206240" y="3840480"/>
            <a:ext cx="3657600" cy="2560320"/>
          </a:xfrm>
          <a:prstGeom prst="roundRect">
            <a:avLst/>
          </a:prstGeom>
          <a:solidFill>
            <a:srgbClr val="FFFFFF"/>
          </a:solidFill>
          <a:ln w="1905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685F"/>
                </a:solidFill>
              </a:defRPr>
            </a:pPr>
            <a:r>
              <a:t>📱 Camp Scheduler</a:t>
            </a:r>
            <a:br/>
            <a:r>
              <a:t>High-Burden Villages</a:t>
            </a:r>
            <a:br/>
            <a:r>
              <a:t>Saran's Dashboard Screenshot</a:t>
            </a:r>
            <a:br/>
            <a:br/>
            <a:r>
              <a:t>[Attach Your Screenshot Here]</a:t>
            </a:r>
            <a:br/>
            <a:r>
              <a:t>(Your Original App UI)</a:t>
            </a:r>
          </a:p>
        </p:txBody>
      </p:sp>
      <p:sp>
        <p:nvSpPr>
          <p:cNvPr id="9" name="Rounded Rectangle 8"/>
          <p:cNvSpPr/>
          <p:nvPr/>
        </p:nvSpPr>
        <p:spPr>
          <a:xfrm>
            <a:off x="8138160" y="3840480"/>
            <a:ext cx="3657600" cy="2560320"/>
          </a:xfrm>
          <a:prstGeom prst="roundRect">
            <a:avLst/>
          </a:prstGeom>
          <a:solidFill>
            <a:srgbClr val="FFFFFF"/>
          </a:solidFill>
          <a:ln w="1905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685F"/>
                </a:solidFill>
              </a:defRPr>
            </a:pPr>
            <a:r>
              <a:t>📱 Sync Status + Auto Upload</a:t>
            </a:r>
            <a:br/>
            <a:r>
              <a:t>IndexedDB -&gt; Node.js -&gt; PostgreSQL</a:t>
            </a:r>
            <a:br/>
            <a:r>
              <a:t>Saran's Dashboard Screenshot</a:t>
            </a:r>
            <a:br/>
            <a:br/>
            <a:r>
              <a:t>[Attach Your Screenshot Here]</a:t>
            </a:r>
            <a:br/>
            <a:r>
              <a:t>(Your Original App UI)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822960"/>
          </a:xfrm>
          <a:prstGeom prst="roundRect">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48640"/>
          </a:xfrm>
          <a:prstGeom prst="rect">
            <a:avLst/>
          </a:prstGeom>
          <a:noFill/>
        </p:spPr>
        <p:txBody>
          <a:bodyPr wrap="square">
            <a:spAutoFit/>
          </a:bodyPr>
          <a:lstStyle/>
          <a:p>
            <a:pPr algn="l">
              <a:lnSpc>
                <a:spcPct val="120000"/>
              </a:lnSpc>
              <a:spcAft>
                <a:spcPts val="200"/>
              </a:spcAft>
              <a:defRPr sz="1800" b="1">
                <a:solidFill>
                  <a:srgbClr val="FFFFFF"/>
                </a:solidFill>
              </a:defRPr>
            </a:pPr>
            <a:r>
              <a:t>8. Feasibility and Viability - Original Analysis</a:t>
            </a:r>
          </a:p>
        </p:txBody>
      </p:sp>
      <p:sp>
        <p:nvSpPr>
          <p:cNvPr id="4" name="Rounded Rectangle 3"/>
          <p:cNvSpPr/>
          <p:nvPr/>
        </p:nvSpPr>
        <p:spPr>
          <a:xfrm>
            <a:off x="365760" y="1097280"/>
            <a:ext cx="4114800" cy="5486400"/>
          </a:xfrm>
          <a:prstGeom prst="roundRect">
            <a:avLst/>
          </a:prstGeom>
          <a:solidFill>
            <a:srgbClr val="EFF4FF"/>
          </a:solidFill>
          <a:ln w="12700">
            <a:solidFill>
              <a:srgbClr val="99E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88720"/>
            <a:ext cx="3749039" cy="274320"/>
          </a:xfrm>
          <a:prstGeom prst="rect">
            <a:avLst/>
          </a:prstGeom>
          <a:noFill/>
        </p:spPr>
        <p:txBody>
          <a:bodyPr wrap="square">
            <a:spAutoFit/>
          </a:bodyPr>
          <a:lstStyle/>
          <a:p>
            <a:pPr algn="l">
              <a:lnSpc>
                <a:spcPct val="120000"/>
              </a:lnSpc>
              <a:spcAft>
                <a:spcPts val="200"/>
              </a:spcAft>
              <a:defRPr sz="1100" b="1">
                <a:solidFill>
                  <a:srgbClr val="00685F"/>
                </a:solidFill>
              </a:defRPr>
            </a:pPr>
            <a:r>
              <a:t>Feasibility - Practical Points</a:t>
            </a:r>
          </a:p>
        </p:txBody>
      </p:sp>
      <p:sp>
        <p:nvSpPr>
          <p:cNvPr id="6" name="TextBox 5"/>
          <p:cNvSpPr txBox="1"/>
          <p:nvPr/>
        </p:nvSpPr>
        <p:spPr>
          <a:xfrm>
            <a:off x="548640" y="1554480"/>
            <a:ext cx="3749039" cy="1828800"/>
          </a:xfrm>
          <a:prstGeom prst="rect">
            <a:avLst/>
          </a:prstGeom>
          <a:noFill/>
        </p:spPr>
        <p:txBody>
          <a:bodyPr wrap="square">
            <a:spAutoFit/>
          </a:bodyPr>
          <a:lstStyle/>
          <a:p>
            <a:pPr>
              <a:defRPr sz="900">
                <a:solidFill>
                  <a:srgbClr val="1A1A2E"/>
                </a:solidFill>
              </a:defRPr>
            </a:pPr>
            <a:r>
              <a:t>• Low cost Rs 1,070 prototype, Rs 820 bulk - uses market parts, 99.9% cheaper than 50L lab</a:t>
            </a:r>
          </a:p>
          <a:p>
            <a:pPr>
              <a:spcAft>
                <a:spcPts val="300"/>
              </a:spcAft>
              <a:defRPr sz="900">
                <a:solidFill>
                  <a:srgbClr val="1A1A2E"/>
                </a:solidFill>
              </a:defRPr>
            </a:pPr>
            <a:r>
              <a:t>• Saree/Dhoti friendly - single shin band, no cloth change, no slipping</a:t>
            </a:r>
          </a:p>
          <a:p>
            <a:pPr>
              <a:spcAft>
                <a:spcPts val="300"/>
              </a:spcAft>
              <a:defRPr sz="900">
                <a:solidFill>
                  <a:srgbClr val="1A1A2E"/>
                </a:solidFill>
              </a:defRPr>
            </a:pPr>
            <a:r>
              <a:t>• Bone contact - shin has almost no fat, direct vibration without wobble</a:t>
            </a:r>
          </a:p>
          <a:p>
            <a:pPr>
              <a:spcAft>
                <a:spcPts val="300"/>
              </a:spcAft>
              <a:defRPr sz="900">
                <a:solidFill>
                  <a:srgbClr val="1A1A2E"/>
                </a:solidFill>
              </a:defRPr>
            </a:pPr>
            <a:r>
              <a:t>• Offline ready - 100% offline + encrypted QR, works in tribal/hilly zero network</a:t>
            </a:r>
          </a:p>
          <a:p>
            <a:pPr>
              <a:spcAft>
                <a:spcPts val="300"/>
              </a:spcAft>
              <a:defRPr sz="900">
                <a:solidFill>
                  <a:srgbClr val="1A1A2E"/>
                </a:solidFill>
              </a:defRPr>
            </a:pPr>
            <a:r>
              <a:t>• Easy training - 4-step wizard + local voice, 15 min for ASHA</a:t>
            </a:r>
          </a:p>
          <a:p>
            <a:pPr>
              <a:spcAft>
                <a:spcPts val="300"/>
              </a:spcAft>
              <a:defRPr sz="900">
                <a:solidFill>
                  <a:srgbClr val="1A1A2E"/>
                </a:solidFill>
              </a:defRPr>
            </a:pPr>
            <a:r>
              <a:t>• Scalable - standard parts, single PCB for mass production</a:t>
            </a:r>
          </a:p>
        </p:txBody>
      </p:sp>
      <p:sp>
        <p:nvSpPr>
          <p:cNvPr id="7" name="Rounded Rectangle 6"/>
          <p:cNvSpPr/>
          <p:nvPr/>
        </p:nvSpPr>
        <p:spPr>
          <a:xfrm>
            <a:off x="548640" y="3657600"/>
            <a:ext cx="3749039" cy="274320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3749039"/>
            <a:ext cx="3566160" cy="274320"/>
          </a:xfrm>
          <a:prstGeom prst="rect">
            <a:avLst/>
          </a:prstGeom>
          <a:noFill/>
        </p:spPr>
        <p:txBody>
          <a:bodyPr wrap="square">
            <a:spAutoFit/>
          </a:bodyPr>
          <a:lstStyle/>
          <a:p>
            <a:pPr algn="l">
              <a:lnSpc>
                <a:spcPct val="120000"/>
              </a:lnSpc>
              <a:spcAft>
                <a:spcPts val="200"/>
              </a:spcAft>
              <a:defRPr sz="1000" b="1">
                <a:solidFill>
                  <a:srgbClr val="00685F"/>
                </a:solidFill>
              </a:defRPr>
            </a:pPr>
            <a:r>
              <a:t>Cost Breakdown - Real Market Prices</a:t>
            </a:r>
          </a:p>
        </p:txBody>
      </p:sp>
      <p:sp>
        <p:nvSpPr>
          <p:cNvPr id="9" name="TextBox 8"/>
          <p:cNvSpPr txBox="1"/>
          <p:nvPr/>
        </p:nvSpPr>
        <p:spPr>
          <a:xfrm>
            <a:off x="640080" y="4114800"/>
            <a:ext cx="3566160" cy="2194560"/>
          </a:xfrm>
          <a:prstGeom prst="rect">
            <a:avLst/>
          </a:prstGeom>
          <a:noFill/>
        </p:spPr>
        <p:txBody>
          <a:bodyPr wrap="square">
            <a:spAutoFit/>
          </a:bodyPr>
          <a:lstStyle/>
          <a:p>
            <a:pPr>
              <a:defRPr sz="900">
                <a:solidFill>
                  <a:srgbClr val="1A1A2E"/>
                </a:solidFill>
              </a:defRPr>
            </a:pPr>
            <a:r>
              <a:t>• ESP32-S3 SuperMini: Rs 320</a:t>
            </a:r>
          </a:p>
          <a:p>
            <a:pPr>
              <a:spcAft>
                <a:spcPts val="300"/>
              </a:spcAft>
              <a:defRPr sz="900">
                <a:solidFill>
                  <a:srgbClr val="1A1A2E"/>
                </a:solidFill>
              </a:defRPr>
            </a:pPr>
            <a:r>
              <a:t>• MPU-6050: Rs 110</a:t>
            </a:r>
          </a:p>
          <a:p>
            <a:pPr>
              <a:spcAft>
                <a:spcPts val="300"/>
              </a:spcAft>
              <a:defRPr sz="900">
                <a:solidFill>
                  <a:srgbClr val="1A1A2E"/>
                </a:solidFill>
              </a:defRPr>
            </a:pPr>
            <a:r>
              <a:t>• OLED 0.96 inch: Rs 160</a:t>
            </a:r>
          </a:p>
          <a:p>
            <a:pPr>
              <a:spcAft>
                <a:spcPts val="300"/>
              </a:spcAft>
              <a:defRPr sz="900">
                <a:solidFill>
                  <a:srgbClr val="1A1A2E"/>
                </a:solidFill>
              </a:defRPr>
            </a:pPr>
            <a:r>
              <a:t>• LiPo 500mAh: Rs 180</a:t>
            </a:r>
          </a:p>
          <a:p>
            <a:pPr>
              <a:spcAft>
                <a:spcPts val="300"/>
              </a:spcAft>
              <a:defRPr sz="900">
                <a:solidFill>
                  <a:srgbClr val="1A1A2E"/>
                </a:solidFill>
              </a:defRPr>
            </a:pPr>
            <a:r>
              <a:t>• Neoprene strap: Rs 140</a:t>
            </a:r>
          </a:p>
          <a:p>
            <a:pPr>
              <a:spcAft>
                <a:spcPts val="300"/>
              </a:spcAft>
              <a:defRPr sz="900">
                <a:solidFill>
                  <a:srgbClr val="1A1A2E"/>
                </a:solidFill>
              </a:defRPr>
            </a:pPr>
            <a:r>
              <a:t>• Enclosure PETG: Rs 80</a:t>
            </a:r>
          </a:p>
          <a:p>
            <a:pPr>
              <a:spcAft>
                <a:spcPts val="300"/>
              </a:spcAft>
              <a:defRPr sz="900">
                <a:solidFill>
                  <a:srgbClr val="1A1A2E"/>
                </a:solidFill>
              </a:defRPr>
            </a:pPr>
            <a:r>
              <a:t>• TP4056 USB-C: Rs 35</a:t>
            </a:r>
          </a:p>
          <a:p>
            <a:pPr>
              <a:spcAft>
                <a:spcPts val="300"/>
              </a:spcAft>
              <a:defRPr sz="900">
                <a:solidFill>
                  <a:srgbClr val="1A1A2E"/>
                </a:solidFill>
              </a:defRPr>
            </a:pPr>
            <a:r>
              <a:t>• Other: Rs 45</a:t>
            </a:r>
          </a:p>
          <a:p>
            <a:pPr>
              <a:spcAft>
                <a:spcPts val="300"/>
              </a:spcAft>
              <a:defRPr sz="900">
                <a:solidFill>
                  <a:srgbClr val="1A1A2E"/>
                </a:solidFill>
              </a:defRPr>
            </a:pPr>
            <a:r>
              <a:t>• Total: Rs 1,070 -&gt; Rs 820 bulk</a:t>
            </a:r>
          </a:p>
        </p:txBody>
      </p:sp>
      <p:sp>
        <p:nvSpPr>
          <p:cNvPr id="10" name="Rounded Rectangle 9"/>
          <p:cNvSpPr/>
          <p:nvPr/>
        </p:nvSpPr>
        <p:spPr>
          <a:xfrm>
            <a:off x="4846320" y="1097280"/>
            <a:ext cx="3383280" cy="2560320"/>
          </a:xfrm>
          <a:prstGeom prst="roundRect">
            <a:avLst/>
          </a:prstGeom>
          <a:solidFill>
            <a:srgbClr val="D5F8F5"/>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0" y="1188720"/>
            <a:ext cx="3200400" cy="274320"/>
          </a:xfrm>
          <a:prstGeom prst="rect">
            <a:avLst/>
          </a:prstGeom>
          <a:noFill/>
        </p:spPr>
        <p:txBody>
          <a:bodyPr wrap="square">
            <a:spAutoFit/>
          </a:bodyPr>
          <a:lstStyle/>
          <a:p>
            <a:pPr algn="l">
              <a:lnSpc>
                <a:spcPct val="120000"/>
              </a:lnSpc>
              <a:spcAft>
                <a:spcPts val="200"/>
              </a:spcAft>
              <a:defRPr sz="1000" b="1">
                <a:solidFill>
                  <a:srgbClr val="00685F"/>
                </a:solidFill>
              </a:defRPr>
            </a:pPr>
            <a:r>
              <a:t>Technical Viability - Our Build</a:t>
            </a:r>
          </a:p>
        </p:txBody>
      </p:sp>
      <p:sp>
        <p:nvSpPr>
          <p:cNvPr id="12" name="TextBox 11"/>
          <p:cNvSpPr txBox="1"/>
          <p:nvPr/>
        </p:nvSpPr>
        <p:spPr>
          <a:xfrm>
            <a:off x="4937760" y="1554480"/>
            <a:ext cx="3200400" cy="2011680"/>
          </a:xfrm>
          <a:prstGeom prst="rect">
            <a:avLst/>
          </a:prstGeom>
          <a:noFill/>
        </p:spPr>
        <p:txBody>
          <a:bodyPr wrap="square">
            <a:spAutoFit/>
          </a:bodyPr>
          <a:lstStyle/>
          <a:p>
            <a:pPr algn="l">
              <a:lnSpc>
                <a:spcPct val="120000"/>
              </a:lnSpc>
              <a:spcAft>
                <a:spcPts val="200"/>
              </a:spcAft>
              <a:defRPr sz="800" b="0">
                <a:solidFill>
                  <a:srgbClr val="1A1A2E"/>
                </a:solidFill>
              </a:defRPr>
            </a:pPr>
            <a:r>
              <a:t>Dual-core FreeRTOS prevents sensor and display blocking. Binary 16-byte data uses only 1.6KB/s, no loss. MediaPipe runs 30 FPS on basic Android. Mutex ensures 100Hz no drops. Simulation mode for phones without Bluetooth. All original code by team, not copied.</a:t>
            </a:r>
          </a:p>
        </p:txBody>
      </p:sp>
      <p:sp>
        <p:nvSpPr>
          <p:cNvPr id="13" name="Rounded Rectangle 12"/>
          <p:cNvSpPr/>
          <p:nvPr/>
        </p:nvSpPr>
        <p:spPr>
          <a:xfrm>
            <a:off x="8412480" y="1097280"/>
            <a:ext cx="3383280" cy="256032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0" y="1188720"/>
            <a:ext cx="3200400" cy="274320"/>
          </a:xfrm>
          <a:prstGeom prst="rect">
            <a:avLst/>
          </a:prstGeom>
          <a:noFill/>
        </p:spPr>
        <p:txBody>
          <a:bodyPr wrap="square">
            <a:spAutoFit/>
          </a:bodyPr>
          <a:lstStyle/>
          <a:p>
            <a:pPr algn="l">
              <a:lnSpc>
                <a:spcPct val="120000"/>
              </a:lnSpc>
              <a:spcAft>
                <a:spcPts val="200"/>
              </a:spcAft>
              <a:defRPr sz="1000" b="1">
                <a:solidFill>
                  <a:srgbClr val="00685F"/>
                </a:solidFill>
              </a:defRPr>
            </a:pPr>
            <a:r>
              <a:t>Economic Viability</a:t>
            </a:r>
          </a:p>
        </p:txBody>
      </p:sp>
      <p:sp>
        <p:nvSpPr>
          <p:cNvPr id="15" name="TextBox 14"/>
          <p:cNvSpPr txBox="1"/>
          <p:nvPr/>
        </p:nvSpPr>
        <p:spPr>
          <a:xfrm>
            <a:off x="8503920" y="1554480"/>
            <a:ext cx="3200400" cy="2011680"/>
          </a:xfrm>
          <a:prstGeom prst="rect">
            <a:avLst/>
          </a:prstGeom>
          <a:noFill/>
        </p:spPr>
        <p:txBody>
          <a:bodyPr wrap="square">
            <a:spAutoFit/>
          </a:bodyPr>
          <a:lstStyle/>
          <a:p>
            <a:pPr algn="l">
              <a:lnSpc>
                <a:spcPct val="120000"/>
              </a:lnSpc>
              <a:spcAft>
                <a:spcPts val="200"/>
              </a:spcAft>
              <a:defRPr sz="800" b="0">
                <a:solidFill>
                  <a:srgbClr val="1A1A2E"/>
                </a:solidFill>
              </a:defRPr>
            </a:pPr>
            <a:r>
              <a:t>Prototype less than blood test machine. One PHC screens thousands at low cost. Prevents 3 lakh surgeries for poor families. 8-hour battery, USB-C charging. No recurring cost except minimal cloud for dashboard.</a:t>
            </a:r>
          </a:p>
        </p:txBody>
      </p:sp>
      <p:sp>
        <p:nvSpPr>
          <p:cNvPr id="16" name="Rounded Rectangle 15"/>
          <p:cNvSpPr/>
          <p:nvPr/>
        </p:nvSpPr>
        <p:spPr>
          <a:xfrm>
            <a:off x="4846320" y="3840480"/>
            <a:ext cx="3383280" cy="256032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37760" y="3931920"/>
            <a:ext cx="3200400" cy="274320"/>
          </a:xfrm>
          <a:prstGeom prst="rect">
            <a:avLst/>
          </a:prstGeom>
          <a:noFill/>
        </p:spPr>
        <p:txBody>
          <a:bodyPr wrap="square">
            <a:spAutoFit/>
          </a:bodyPr>
          <a:lstStyle/>
          <a:p>
            <a:pPr algn="l">
              <a:lnSpc>
                <a:spcPct val="120000"/>
              </a:lnSpc>
              <a:spcAft>
                <a:spcPts val="200"/>
              </a:spcAft>
              <a:defRPr sz="1000" b="1">
                <a:solidFill>
                  <a:srgbClr val="00685F"/>
                </a:solidFill>
              </a:defRPr>
            </a:pPr>
            <a:r>
              <a:t>Operational Viability</a:t>
            </a:r>
          </a:p>
        </p:txBody>
      </p:sp>
      <p:sp>
        <p:nvSpPr>
          <p:cNvPr id="18" name="TextBox 17"/>
          <p:cNvSpPr txBox="1"/>
          <p:nvPr/>
        </p:nvSpPr>
        <p:spPr>
          <a:xfrm>
            <a:off x="4937760" y="4297680"/>
            <a:ext cx="3200400" cy="2011680"/>
          </a:xfrm>
          <a:prstGeom prst="rect">
            <a:avLst/>
          </a:prstGeom>
          <a:noFill/>
        </p:spPr>
        <p:txBody>
          <a:bodyPr wrap="square">
            <a:spAutoFit/>
          </a:bodyPr>
          <a:lstStyle/>
          <a:p>
            <a:pPr algn="l">
              <a:lnSpc>
                <a:spcPct val="120000"/>
              </a:lnSpc>
              <a:spcAft>
                <a:spcPts val="200"/>
              </a:spcAft>
              <a:defRPr sz="800" b="0">
                <a:solidFill>
                  <a:srgbClr val="1A1A2E"/>
                </a:solidFill>
              </a:defRPr>
            </a:pPr>
            <a:r>
              <a:t>For ASHA workflow: local greeting, big buttons, sync status, resume alert. 3-step registration, 8 simple questions, auto BMI. No technician. 15 min training with voice. APK installs on govt phones. Local languages.</a:t>
            </a:r>
          </a:p>
        </p:txBody>
      </p:sp>
      <p:sp>
        <p:nvSpPr>
          <p:cNvPr id="19" name="Rounded Rectangle 18"/>
          <p:cNvSpPr/>
          <p:nvPr/>
        </p:nvSpPr>
        <p:spPr>
          <a:xfrm>
            <a:off x="8412480" y="3840480"/>
            <a:ext cx="3383280" cy="2560320"/>
          </a:xfrm>
          <a:prstGeom prst="roundRect">
            <a:avLst/>
          </a:prstGeom>
          <a:solidFill>
            <a:srgbClr val="EFF4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0" y="3931920"/>
            <a:ext cx="3200400" cy="274320"/>
          </a:xfrm>
          <a:prstGeom prst="rect">
            <a:avLst/>
          </a:prstGeom>
          <a:noFill/>
        </p:spPr>
        <p:txBody>
          <a:bodyPr wrap="square">
            <a:spAutoFit/>
          </a:bodyPr>
          <a:lstStyle/>
          <a:p>
            <a:pPr algn="l">
              <a:lnSpc>
                <a:spcPct val="120000"/>
              </a:lnSpc>
              <a:spcAft>
                <a:spcPts val="200"/>
              </a:spcAft>
              <a:defRPr sz="1000" b="1">
                <a:solidFill>
                  <a:srgbClr val="00685F"/>
                </a:solidFill>
              </a:defRPr>
            </a:pPr>
            <a:r>
              <a:t>Standards Compliance</a:t>
            </a:r>
          </a:p>
        </p:txBody>
      </p:sp>
      <p:sp>
        <p:nvSpPr>
          <p:cNvPr id="21" name="TextBox 20"/>
          <p:cNvSpPr txBox="1"/>
          <p:nvPr/>
        </p:nvSpPr>
        <p:spPr>
          <a:xfrm>
            <a:off x="8503920" y="4297680"/>
            <a:ext cx="3200400" cy="2011680"/>
          </a:xfrm>
          <a:prstGeom prst="rect">
            <a:avLst/>
          </a:prstGeom>
          <a:noFill/>
        </p:spPr>
        <p:txBody>
          <a:bodyPr wrap="square">
            <a:spAutoFit/>
          </a:bodyPr>
          <a:lstStyle/>
          <a:p>
            <a:pPr algn="l">
              <a:lnSpc>
                <a:spcPct val="120000"/>
              </a:lnSpc>
              <a:spcAft>
                <a:spcPts val="200"/>
              </a:spcAft>
              <a:defRPr sz="800" b="0">
                <a:solidFill>
                  <a:srgbClr val="1A1A2E"/>
                </a:solidFill>
              </a:defRPr>
            </a:pPr>
            <a:r>
              <a:t>Follows OARSI questions for knee screening. Uses 30-sec chair-stand validated test. NHM frontline protocols. Ready for ABHA ID linking. Clearly screening support, not diagnosis - needs doctor confirmation. No plagiarism, original wording.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822960"/>
          </a:xfrm>
          <a:prstGeom prst="roundRect">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48640"/>
          </a:xfrm>
          <a:prstGeom prst="rect">
            <a:avLst/>
          </a:prstGeom>
          <a:noFill/>
        </p:spPr>
        <p:txBody>
          <a:bodyPr wrap="square">
            <a:spAutoFit/>
          </a:bodyPr>
          <a:lstStyle/>
          <a:p>
            <a:pPr algn="l">
              <a:lnSpc>
                <a:spcPct val="120000"/>
              </a:lnSpc>
              <a:spcAft>
                <a:spcPts val="200"/>
              </a:spcAft>
              <a:defRPr sz="1800" b="1">
                <a:solidFill>
                  <a:srgbClr val="FFFFFF"/>
                </a:solidFill>
              </a:defRPr>
            </a:pPr>
            <a:r>
              <a:t>9. Impact and Benefits - Original Analysis (No AI Images)</a:t>
            </a:r>
          </a:p>
        </p:txBody>
      </p:sp>
      <p:sp>
        <p:nvSpPr>
          <p:cNvPr id="4" name="Rounded Rectangle 3"/>
          <p:cNvSpPr/>
          <p:nvPr/>
        </p:nvSpPr>
        <p:spPr>
          <a:xfrm>
            <a:off x="365760" y="1097280"/>
            <a:ext cx="3657600" cy="5394960"/>
          </a:xfrm>
          <a:prstGeom prst="roundRect">
            <a:avLst/>
          </a:prstGeom>
          <a:solidFill>
            <a:srgbClr val="EFF4FF"/>
          </a:solidFill>
          <a:ln w="12700">
            <a:solidFill>
              <a:srgbClr val="99E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88720"/>
            <a:ext cx="3291840" cy="274320"/>
          </a:xfrm>
          <a:prstGeom prst="rect">
            <a:avLst/>
          </a:prstGeom>
          <a:noFill/>
        </p:spPr>
        <p:txBody>
          <a:bodyPr wrap="square">
            <a:spAutoFit/>
          </a:bodyPr>
          <a:lstStyle/>
          <a:p>
            <a:pPr algn="l">
              <a:lnSpc>
                <a:spcPct val="120000"/>
              </a:lnSpc>
              <a:spcAft>
                <a:spcPts val="200"/>
              </a:spcAft>
              <a:defRPr sz="1000" b="1">
                <a:solidFill>
                  <a:srgbClr val="00685F"/>
                </a:solidFill>
              </a:defRPr>
            </a:pPr>
            <a:r>
              <a:t>System Flow - Shapes Only</a:t>
            </a:r>
          </a:p>
        </p:txBody>
      </p:sp>
      <p:sp>
        <p:nvSpPr>
          <p:cNvPr id="6" name="Rounded Rectangle 5"/>
          <p:cNvSpPr/>
          <p:nvPr/>
        </p:nvSpPr>
        <p:spPr>
          <a:xfrm>
            <a:off x="548640" y="1554480"/>
            <a:ext cx="3291840" cy="640080"/>
          </a:xfrm>
          <a:prstGeom prst="roundRect">
            <a:avLst/>
          </a:prstGeom>
          <a:solidFill>
            <a:srgbClr val="D5F8F5"/>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0">
                <a:solidFill>
                  <a:srgbClr val="1A1A2E"/>
                </a:solidFill>
              </a:defRPr>
            </a:pPr>
            <a:r>
              <a:t>Step 1: Doorstep Screening - ASHA uses band + phone offline in village, captures shock, checks bending, instant advice</a:t>
            </a:r>
          </a:p>
        </p:txBody>
      </p:sp>
      <p:sp>
        <p:nvSpPr>
          <p:cNvPr id="7" name="Down Arrow 6"/>
          <p:cNvSpPr/>
          <p:nvPr/>
        </p:nvSpPr>
        <p:spPr>
          <a:xfrm>
            <a:off x="1828800" y="2240280"/>
            <a:ext cx="457200" cy="137160"/>
          </a:xfrm>
          <a:prstGeom prst="downArrow">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2468880"/>
            <a:ext cx="3291840" cy="64008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0">
                <a:solidFill>
                  <a:srgbClr val="1A1A2E"/>
                </a:solidFill>
              </a:defRPr>
            </a:pPr>
            <a:r>
              <a:t>Step 2: Smart Syncing - When ASHA reaches network, app auto-uploads queued records safely to cloud</a:t>
            </a:r>
          </a:p>
        </p:txBody>
      </p:sp>
      <p:sp>
        <p:nvSpPr>
          <p:cNvPr id="9" name="Down Arrow 8"/>
          <p:cNvSpPr/>
          <p:nvPr/>
        </p:nvSpPr>
        <p:spPr>
          <a:xfrm>
            <a:off x="1828800" y="3154680"/>
            <a:ext cx="457200" cy="137160"/>
          </a:xfrm>
          <a:prstGeom prst="downArrow">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3383280"/>
            <a:ext cx="3291840" cy="914400"/>
          </a:xfrm>
          <a:prstGeom prst="roundRect">
            <a:avLst/>
          </a:prstGeom>
          <a:solidFill>
            <a:srgbClr val="99EFE5"/>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0">
                <a:solidFill>
                  <a:srgbClr val="1A1A2E"/>
                </a:solidFill>
              </a:defRPr>
            </a:pPr>
            <a:r>
              <a:t>Step 3: PHC Dashboard (Saran) - Doctor sees village maps, high-risk queue, charts, ASHA activity, camp planning</a:t>
            </a:r>
          </a:p>
        </p:txBody>
      </p:sp>
      <p:sp>
        <p:nvSpPr>
          <p:cNvPr id="11" name="Down Arrow 10"/>
          <p:cNvSpPr/>
          <p:nvPr/>
        </p:nvSpPr>
        <p:spPr>
          <a:xfrm>
            <a:off x="1828800" y="4343400"/>
            <a:ext cx="457200" cy="137160"/>
          </a:xfrm>
          <a:prstGeom prst="downArrow">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8640" y="4572000"/>
            <a:ext cx="3291840" cy="640080"/>
          </a:xfrm>
          <a:prstGeom prst="roundRect">
            <a:avLst/>
          </a:prstGeom>
          <a:solidFill>
            <a:srgbClr val="00685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0">
                <a:solidFill>
                  <a:srgbClr val="FFFFFF"/>
                </a:solidFill>
              </a:defRPr>
            </a:pPr>
            <a:r>
              <a:t>Step 4: Specialist Care - High-risk patients visit district hospital with QR slip, doctor scans offline, sees report</a:t>
            </a:r>
          </a:p>
        </p:txBody>
      </p:sp>
      <p:sp>
        <p:nvSpPr>
          <p:cNvPr id="13" name="Rounded Rectangle 12"/>
          <p:cNvSpPr/>
          <p:nvPr/>
        </p:nvSpPr>
        <p:spPr>
          <a:xfrm>
            <a:off x="548640" y="5394960"/>
            <a:ext cx="3291840" cy="91440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00" b="0">
                <a:solidFill>
                  <a:srgbClr val="1A1A2E"/>
                </a:solidFill>
              </a:defRPr>
            </a:pPr>
            <a:r>
              <a:t>Drive Link: [Insert Video Demo / GitHub]</a:t>
            </a:r>
            <a:br/>
            <a:r>
              <a:t>All flowcharts made with shapes, no AI images. Real photos only.</a:t>
            </a:r>
          </a:p>
        </p:txBody>
      </p:sp>
      <p:sp>
        <p:nvSpPr>
          <p:cNvPr id="14" name="Rounded Rectangle 13"/>
          <p:cNvSpPr/>
          <p:nvPr/>
        </p:nvSpPr>
        <p:spPr>
          <a:xfrm>
            <a:off x="4389120" y="1097280"/>
            <a:ext cx="3657600" cy="228600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1188720"/>
            <a:ext cx="3291840" cy="274320"/>
          </a:xfrm>
          <a:prstGeom prst="rect">
            <a:avLst/>
          </a:prstGeom>
          <a:noFill/>
        </p:spPr>
        <p:txBody>
          <a:bodyPr wrap="square">
            <a:spAutoFit/>
          </a:bodyPr>
          <a:lstStyle/>
          <a:p>
            <a:pPr algn="l">
              <a:lnSpc>
                <a:spcPct val="120000"/>
              </a:lnSpc>
              <a:spcAft>
                <a:spcPts val="200"/>
              </a:spcAft>
              <a:defRPr sz="1000" b="1">
                <a:solidFill>
                  <a:srgbClr val="00685F"/>
                </a:solidFill>
              </a:defRPr>
            </a:pPr>
            <a:r>
              <a:t>Impact - 5 Areas (Original)</a:t>
            </a:r>
          </a:p>
        </p:txBody>
      </p:sp>
      <p:sp>
        <p:nvSpPr>
          <p:cNvPr id="16" name="TextBox 15"/>
          <p:cNvSpPr txBox="1"/>
          <p:nvPr/>
        </p:nvSpPr>
        <p:spPr>
          <a:xfrm>
            <a:off x="4572000" y="1554480"/>
            <a:ext cx="3291840" cy="1645920"/>
          </a:xfrm>
          <a:prstGeom prst="rect">
            <a:avLst/>
          </a:prstGeom>
          <a:noFill/>
        </p:spPr>
        <p:txBody>
          <a:bodyPr wrap="square">
            <a:spAutoFit/>
          </a:bodyPr>
          <a:lstStyle/>
          <a:p>
            <a:pPr>
              <a:defRPr sz="900">
                <a:solidFill>
                  <a:srgbClr val="1A1A2E"/>
                </a:solidFill>
              </a:defRPr>
            </a:pPr>
            <a:r>
              <a:t>• Early care: Catches early wear, avoids 3 lakh surgery, keeps farmers active</a:t>
            </a:r>
          </a:p>
          <a:p>
            <a:pPr>
              <a:spcAft>
                <a:spcPts val="300"/>
              </a:spcAft>
              <a:defRPr sz="900">
                <a:solidFill>
                  <a:srgbClr val="1A1A2E"/>
                </a:solidFill>
              </a:defRPr>
            </a:pPr>
            <a:r>
              <a:t>• Low cost: Replaces 50 lakh lab with 1,070 rupee device, every PHC can afford</a:t>
            </a:r>
          </a:p>
          <a:p>
            <a:pPr>
              <a:spcAft>
                <a:spcPts val="300"/>
              </a:spcAft>
              <a:defRPr sz="900">
                <a:solidFill>
                  <a:srgbClr val="1A1A2E"/>
                </a:solidFill>
              </a:defRPr>
            </a:pPr>
            <a:r>
              <a:t>• Cultural fit: Saree/Dhoti friendly, no cloth change, rural women comfortable</a:t>
            </a:r>
          </a:p>
          <a:p>
            <a:pPr>
              <a:spcAft>
                <a:spcPts val="300"/>
              </a:spcAft>
              <a:defRPr sz="900">
                <a:solidFill>
                  <a:srgbClr val="1A1A2E"/>
                </a:solidFill>
              </a:defRPr>
            </a:pPr>
            <a:r>
              <a:t>• Remote work: Fully offline, works in North-East, tribal, hilly zero network</a:t>
            </a:r>
          </a:p>
          <a:p>
            <a:pPr>
              <a:spcAft>
                <a:spcPts val="300"/>
              </a:spcAft>
              <a:defRPr sz="900">
                <a:solidFill>
                  <a:srgbClr val="1A1A2E"/>
                </a:solidFill>
              </a:defRPr>
            </a:pPr>
            <a:r>
              <a:t>• Health planning: Village maps show high-burden areas, helps plan camps (Saran)</a:t>
            </a:r>
          </a:p>
        </p:txBody>
      </p:sp>
      <p:sp>
        <p:nvSpPr>
          <p:cNvPr id="17" name="TextBox 16"/>
          <p:cNvSpPr txBox="1"/>
          <p:nvPr/>
        </p:nvSpPr>
        <p:spPr>
          <a:xfrm>
            <a:off x="8412480" y="1097280"/>
            <a:ext cx="3383280" cy="274320"/>
          </a:xfrm>
          <a:prstGeom prst="rect">
            <a:avLst/>
          </a:prstGeom>
          <a:noFill/>
        </p:spPr>
        <p:txBody>
          <a:bodyPr wrap="square">
            <a:spAutoFit/>
          </a:bodyPr>
          <a:lstStyle/>
          <a:p>
            <a:pPr algn="l">
              <a:lnSpc>
                <a:spcPct val="120000"/>
              </a:lnSpc>
              <a:spcAft>
                <a:spcPts val="200"/>
              </a:spcAft>
              <a:defRPr sz="1000" b="1">
                <a:solidFill>
                  <a:srgbClr val="00685F"/>
                </a:solidFill>
              </a:defRPr>
            </a:pPr>
            <a:r>
              <a:t>Benefits - 6 Categories (Real Photos)</a:t>
            </a:r>
          </a:p>
        </p:txBody>
      </p:sp>
      <p:sp>
        <p:nvSpPr>
          <p:cNvPr id="18" name="Rounded Rectangle 17"/>
          <p:cNvSpPr/>
          <p:nvPr/>
        </p:nvSpPr>
        <p:spPr>
          <a:xfrm>
            <a:off x="8412480" y="1463040"/>
            <a:ext cx="3383280" cy="73152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0" y="1508760"/>
            <a:ext cx="1828800" cy="182880"/>
          </a:xfrm>
          <a:prstGeom prst="rect">
            <a:avLst/>
          </a:prstGeom>
          <a:noFill/>
        </p:spPr>
        <p:txBody>
          <a:bodyPr wrap="square">
            <a:spAutoFit/>
          </a:bodyPr>
          <a:lstStyle/>
          <a:p>
            <a:pPr algn="l">
              <a:lnSpc>
                <a:spcPct val="120000"/>
              </a:lnSpc>
              <a:spcAft>
                <a:spcPts val="200"/>
              </a:spcAft>
              <a:defRPr sz="800" b="1">
                <a:solidFill>
                  <a:srgbClr val="00685F"/>
                </a:solidFill>
              </a:defRPr>
            </a:pPr>
            <a:r>
              <a:t>01 Social</a:t>
            </a:r>
          </a:p>
        </p:txBody>
      </p:sp>
      <p:sp>
        <p:nvSpPr>
          <p:cNvPr id="20" name="TextBox 19"/>
          <p:cNvSpPr txBox="1"/>
          <p:nvPr/>
        </p:nvSpPr>
        <p:spPr>
          <a:xfrm>
            <a:off x="8503920" y="1691640"/>
            <a:ext cx="1828800" cy="457200"/>
          </a:xfrm>
          <a:prstGeom prst="rect">
            <a:avLst/>
          </a:prstGeom>
          <a:noFill/>
        </p:spPr>
        <p:txBody>
          <a:bodyPr wrap="square">
            <a:spAutoFit/>
          </a:bodyPr>
          <a:lstStyle/>
          <a:p>
            <a:pPr algn="l">
              <a:lnSpc>
                <a:spcPct val="120000"/>
              </a:lnSpc>
              <a:spcAft>
                <a:spcPts val="200"/>
              </a:spcAft>
              <a:defRPr sz="700" b="0">
                <a:solidFill>
                  <a:srgbClr val="1A1A2E"/>
                </a:solidFill>
              </a:defRPr>
            </a:pPr>
            <a:r>
              <a:t>Prevents disability, preserves livelihood</a:t>
            </a:r>
          </a:p>
        </p:txBody>
      </p:sp>
      <p:pic>
        <p:nvPicPr>
          <p:cNvPr id="21" name="Picture 20" descr="asha-worker-rural-india-healthcare-2.jpg"/>
          <p:cNvPicPr>
            <a:picLocks noChangeAspect="1"/>
          </p:cNvPicPr>
          <p:nvPr/>
        </p:nvPicPr>
        <p:blipFill>
          <a:blip r:embed="rId2"/>
          <a:stretch>
            <a:fillRect/>
          </a:stretch>
        </p:blipFill>
        <p:spPr>
          <a:xfrm>
            <a:off x="10424160" y="1508760"/>
            <a:ext cx="548640" cy="457200"/>
          </a:xfrm>
          <a:prstGeom prst="rect">
            <a:avLst/>
          </a:prstGeom>
        </p:spPr>
      </p:pic>
      <p:sp>
        <p:nvSpPr>
          <p:cNvPr id="22" name="Rounded Rectangle 21"/>
          <p:cNvSpPr/>
          <p:nvPr/>
        </p:nvSpPr>
        <p:spPr>
          <a:xfrm>
            <a:off x="8412480" y="2286000"/>
            <a:ext cx="3383280" cy="73152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3920" y="2331720"/>
            <a:ext cx="1828800" cy="182880"/>
          </a:xfrm>
          <a:prstGeom prst="rect">
            <a:avLst/>
          </a:prstGeom>
          <a:noFill/>
        </p:spPr>
        <p:txBody>
          <a:bodyPr wrap="square">
            <a:spAutoFit/>
          </a:bodyPr>
          <a:lstStyle/>
          <a:p>
            <a:pPr algn="l">
              <a:lnSpc>
                <a:spcPct val="120000"/>
              </a:lnSpc>
              <a:spcAft>
                <a:spcPts val="200"/>
              </a:spcAft>
              <a:defRPr sz="800" b="1">
                <a:solidFill>
                  <a:srgbClr val="00685F"/>
                </a:solidFill>
              </a:defRPr>
            </a:pPr>
            <a:r>
              <a:t>02 Environmental</a:t>
            </a:r>
          </a:p>
        </p:txBody>
      </p:sp>
      <p:sp>
        <p:nvSpPr>
          <p:cNvPr id="24" name="TextBox 23"/>
          <p:cNvSpPr txBox="1"/>
          <p:nvPr/>
        </p:nvSpPr>
        <p:spPr>
          <a:xfrm>
            <a:off x="8503920" y="2514600"/>
            <a:ext cx="1828800" cy="457200"/>
          </a:xfrm>
          <a:prstGeom prst="rect">
            <a:avLst/>
          </a:prstGeom>
          <a:noFill/>
        </p:spPr>
        <p:txBody>
          <a:bodyPr wrap="square">
            <a:spAutoFit/>
          </a:bodyPr>
          <a:lstStyle/>
          <a:p>
            <a:pPr algn="l">
              <a:lnSpc>
                <a:spcPct val="120000"/>
              </a:lnSpc>
              <a:spcAft>
                <a:spcPts val="200"/>
              </a:spcAft>
              <a:defRPr sz="700" b="0">
                <a:solidFill>
                  <a:srgbClr val="1A1A2E"/>
                </a:solidFill>
              </a:defRPr>
            </a:pPr>
            <a:r>
              <a:t>Paperless, rechargeable battery</a:t>
            </a:r>
          </a:p>
        </p:txBody>
      </p:sp>
      <p:pic>
        <p:nvPicPr>
          <p:cNvPr id="25" name="Picture 24" descr="oled-display-ssd1306-0-96-inch-1.jpg"/>
          <p:cNvPicPr>
            <a:picLocks noChangeAspect="1"/>
          </p:cNvPicPr>
          <p:nvPr/>
        </p:nvPicPr>
        <p:blipFill>
          <a:blip r:embed="rId3"/>
          <a:stretch>
            <a:fillRect/>
          </a:stretch>
        </p:blipFill>
        <p:spPr>
          <a:xfrm>
            <a:off x="10424160" y="2331720"/>
            <a:ext cx="548640" cy="457200"/>
          </a:xfrm>
          <a:prstGeom prst="rect">
            <a:avLst/>
          </a:prstGeom>
        </p:spPr>
      </p:pic>
      <p:sp>
        <p:nvSpPr>
          <p:cNvPr id="26" name="Rounded Rectangle 25"/>
          <p:cNvSpPr/>
          <p:nvPr/>
        </p:nvSpPr>
        <p:spPr>
          <a:xfrm>
            <a:off x="8412480" y="3108960"/>
            <a:ext cx="3383280" cy="73152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3920" y="3154679"/>
            <a:ext cx="1828800" cy="182880"/>
          </a:xfrm>
          <a:prstGeom prst="rect">
            <a:avLst/>
          </a:prstGeom>
          <a:noFill/>
        </p:spPr>
        <p:txBody>
          <a:bodyPr wrap="square">
            <a:spAutoFit/>
          </a:bodyPr>
          <a:lstStyle/>
          <a:p>
            <a:pPr algn="l">
              <a:lnSpc>
                <a:spcPct val="120000"/>
              </a:lnSpc>
              <a:spcAft>
                <a:spcPts val="200"/>
              </a:spcAft>
              <a:defRPr sz="800" b="1">
                <a:solidFill>
                  <a:srgbClr val="00685F"/>
                </a:solidFill>
              </a:defRPr>
            </a:pPr>
            <a:r>
              <a:t>03 Technical</a:t>
            </a:r>
          </a:p>
        </p:txBody>
      </p:sp>
      <p:sp>
        <p:nvSpPr>
          <p:cNvPr id="28" name="TextBox 27"/>
          <p:cNvSpPr txBox="1"/>
          <p:nvPr/>
        </p:nvSpPr>
        <p:spPr>
          <a:xfrm>
            <a:off x="8503920" y="3337560"/>
            <a:ext cx="1828800" cy="457200"/>
          </a:xfrm>
          <a:prstGeom prst="rect">
            <a:avLst/>
          </a:prstGeom>
          <a:noFill/>
        </p:spPr>
        <p:txBody>
          <a:bodyPr wrap="square">
            <a:spAutoFit/>
          </a:bodyPr>
          <a:lstStyle/>
          <a:p>
            <a:pPr algn="l">
              <a:lnSpc>
                <a:spcPct val="120000"/>
              </a:lnSpc>
              <a:spcAft>
                <a:spcPts val="200"/>
              </a:spcAft>
              <a:defRPr sz="700" b="0">
                <a:solidFill>
                  <a:srgbClr val="1A1A2E"/>
                </a:solidFill>
              </a:defRPr>
            </a:pPr>
            <a:r>
              <a:t>FreeRTOS, BLE, WASM AI on low-cost hardware</a:t>
            </a:r>
          </a:p>
        </p:txBody>
      </p:sp>
      <p:pic>
        <p:nvPicPr>
          <p:cNvPr id="29" name="Picture 28" descr="esp32-s3-supermini-microcontroller-board-1.jpg"/>
          <p:cNvPicPr>
            <a:picLocks noChangeAspect="1"/>
          </p:cNvPicPr>
          <p:nvPr/>
        </p:nvPicPr>
        <p:blipFill>
          <a:blip r:embed="rId4"/>
          <a:stretch>
            <a:fillRect/>
          </a:stretch>
        </p:blipFill>
        <p:spPr>
          <a:xfrm>
            <a:off x="10424160" y="3154679"/>
            <a:ext cx="548640" cy="457200"/>
          </a:xfrm>
          <a:prstGeom prst="rect">
            <a:avLst/>
          </a:prstGeom>
        </p:spPr>
      </p:pic>
      <p:sp>
        <p:nvSpPr>
          <p:cNvPr id="30" name="Rounded Rectangle 29"/>
          <p:cNvSpPr/>
          <p:nvPr/>
        </p:nvSpPr>
        <p:spPr>
          <a:xfrm>
            <a:off x="8412480" y="3931920"/>
            <a:ext cx="3383280" cy="73152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03920" y="3977639"/>
            <a:ext cx="1828800" cy="182880"/>
          </a:xfrm>
          <a:prstGeom prst="rect">
            <a:avLst/>
          </a:prstGeom>
          <a:noFill/>
        </p:spPr>
        <p:txBody>
          <a:bodyPr wrap="square">
            <a:spAutoFit/>
          </a:bodyPr>
          <a:lstStyle/>
          <a:p>
            <a:pPr algn="l">
              <a:lnSpc>
                <a:spcPct val="120000"/>
              </a:lnSpc>
              <a:spcAft>
                <a:spcPts val="200"/>
              </a:spcAft>
              <a:defRPr sz="800" b="1">
                <a:solidFill>
                  <a:srgbClr val="00685F"/>
                </a:solidFill>
              </a:defRPr>
            </a:pPr>
            <a:r>
              <a:t>04 Economic</a:t>
            </a:r>
          </a:p>
        </p:txBody>
      </p:sp>
      <p:sp>
        <p:nvSpPr>
          <p:cNvPr id="32" name="TextBox 31"/>
          <p:cNvSpPr txBox="1"/>
          <p:nvPr/>
        </p:nvSpPr>
        <p:spPr>
          <a:xfrm>
            <a:off x="8503920" y="4160520"/>
            <a:ext cx="1828800" cy="457200"/>
          </a:xfrm>
          <a:prstGeom prst="rect">
            <a:avLst/>
          </a:prstGeom>
          <a:noFill/>
        </p:spPr>
        <p:txBody>
          <a:bodyPr wrap="square">
            <a:spAutoFit/>
          </a:bodyPr>
          <a:lstStyle/>
          <a:p>
            <a:pPr algn="l">
              <a:lnSpc>
                <a:spcPct val="120000"/>
              </a:lnSpc>
              <a:spcAft>
                <a:spcPts val="200"/>
              </a:spcAft>
              <a:defRPr sz="700" b="0">
                <a:solidFill>
                  <a:srgbClr val="1A1A2E"/>
                </a:solidFill>
              </a:defRPr>
            </a:pPr>
            <a:r>
              <a:t>Protects poor families from debt</a:t>
            </a:r>
          </a:p>
        </p:txBody>
      </p:sp>
      <p:pic>
        <p:nvPicPr>
          <p:cNvPr id="33" name="Picture 32" descr="qr-code-medical-referral-offline-1.jpg"/>
          <p:cNvPicPr>
            <a:picLocks noChangeAspect="1"/>
          </p:cNvPicPr>
          <p:nvPr/>
        </p:nvPicPr>
        <p:blipFill>
          <a:blip r:embed="rId5"/>
          <a:stretch>
            <a:fillRect/>
          </a:stretch>
        </p:blipFill>
        <p:spPr>
          <a:xfrm>
            <a:off x="10424160" y="3977639"/>
            <a:ext cx="548640" cy="457200"/>
          </a:xfrm>
          <a:prstGeom prst="rect">
            <a:avLst/>
          </a:prstGeom>
        </p:spPr>
      </p:pic>
      <p:sp>
        <p:nvSpPr>
          <p:cNvPr id="34" name="Rounded Rectangle 33"/>
          <p:cNvSpPr/>
          <p:nvPr/>
        </p:nvSpPr>
        <p:spPr>
          <a:xfrm>
            <a:off x="8412480" y="4754880"/>
            <a:ext cx="3383280" cy="73152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03920" y="4800600"/>
            <a:ext cx="1828800" cy="182880"/>
          </a:xfrm>
          <a:prstGeom prst="rect">
            <a:avLst/>
          </a:prstGeom>
          <a:noFill/>
        </p:spPr>
        <p:txBody>
          <a:bodyPr wrap="square">
            <a:spAutoFit/>
          </a:bodyPr>
          <a:lstStyle/>
          <a:p>
            <a:pPr algn="l">
              <a:lnSpc>
                <a:spcPct val="120000"/>
              </a:lnSpc>
              <a:spcAft>
                <a:spcPts val="200"/>
              </a:spcAft>
              <a:defRPr sz="800" b="1">
                <a:solidFill>
                  <a:srgbClr val="00685F"/>
                </a:solidFill>
              </a:defRPr>
            </a:pPr>
            <a:r>
              <a:t>05 Clinical</a:t>
            </a:r>
          </a:p>
        </p:txBody>
      </p:sp>
      <p:sp>
        <p:nvSpPr>
          <p:cNvPr id="36" name="TextBox 35"/>
          <p:cNvSpPr txBox="1"/>
          <p:nvPr/>
        </p:nvSpPr>
        <p:spPr>
          <a:xfrm>
            <a:off x="8503920" y="4983480"/>
            <a:ext cx="1828800" cy="457200"/>
          </a:xfrm>
          <a:prstGeom prst="rect">
            <a:avLst/>
          </a:prstGeom>
          <a:noFill/>
        </p:spPr>
        <p:txBody>
          <a:bodyPr wrap="square">
            <a:spAutoFit/>
          </a:bodyPr>
          <a:lstStyle/>
          <a:p>
            <a:pPr algn="l">
              <a:lnSpc>
                <a:spcPct val="120000"/>
              </a:lnSpc>
              <a:spcAft>
                <a:spcPts val="200"/>
              </a:spcAft>
              <a:defRPr sz="700" b="0">
                <a:solidFill>
                  <a:srgbClr val="1A1A2E"/>
                </a:solidFill>
              </a:defRPr>
            </a:pPr>
            <a:r>
              <a:t>Objective numbers vs only pain description</a:t>
            </a:r>
          </a:p>
        </p:txBody>
      </p:sp>
      <p:pic>
        <p:nvPicPr>
          <p:cNvPr id="37" name="Picture 36" descr="knee-osteoarthritis-x-ray-cartilage-2.png"/>
          <p:cNvPicPr>
            <a:picLocks noChangeAspect="1"/>
          </p:cNvPicPr>
          <p:nvPr/>
        </p:nvPicPr>
        <p:blipFill>
          <a:blip r:embed="rId6"/>
          <a:stretch>
            <a:fillRect/>
          </a:stretch>
        </p:blipFill>
        <p:spPr>
          <a:xfrm>
            <a:off x="10424160" y="4800600"/>
            <a:ext cx="548640" cy="457200"/>
          </a:xfrm>
          <a:prstGeom prst="rect">
            <a:avLst/>
          </a:prstGeom>
        </p:spPr>
      </p:pic>
      <p:sp>
        <p:nvSpPr>
          <p:cNvPr id="38" name="Rounded Rectangle 37"/>
          <p:cNvSpPr/>
          <p:nvPr/>
        </p:nvSpPr>
        <p:spPr>
          <a:xfrm>
            <a:off x="8412480" y="5577840"/>
            <a:ext cx="3383280" cy="73152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03920" y="5623560"/>
            <a:ext cx="1828800" cy="182880"/>
          </a:xfrm>
          <a:prstGeom prst="rect">
            <a:avLst/>
          </a:prstGeom>
          <a:noFill/>
        </p:spPr>
        <p:txBody>
          <a:bodyPr wrap="square">
            <a:spAutoFit/>
          </a:bodyPr>
          <a:lstStyle/>
          <a:p>
            <a:pPr algn="l">
              <a:lnSpc>
                <a:spcPct val="120000"/>
              </a:lnSpc>
              <a:spcAft>
                <a:spcPts val="200"/>
              </a:spcAft>
              <a:defRPr sz="800" b="1">
                <a:solidFill>
                  <a:srgbClr val="00685F"/>
                </a:solidFill>
              </a:defRPr>
            </a:pPr>
            <a:r>
              <a:t>06 Reliability</a:t>
            </a:r>
          </a:p>
        </p:txBody>
      </p:sp>
      <p:sp>
        <p:nvSpPr>
          <p:cNvPr id="40" name="TextBox 39"/>
          <p:cNvSpPr txBox="1"/>
          <p:nvPr/>
        </p:nvSpPr>
        <p:spPr>
          <a:xfrm>
            <a:off x="8503920" y="5806440"/>
            <a:ext cx="1828800" cy="457200"/>
          </a:xfrm>
          <a:prstGeom prst="rect">
            <a:avLst/>
          </a:prstGeom>
          <a:noFill/>
        </p:spPr>
        <p:txBody>
          <a:bodyPr wrap="square">
            <a:spAutoFit/>
          </a:bodyPr>
          <a:lstStyle/>
          <a:p>
            <a:pPr algn="l">
              <a:lnSpc>
                <a:spcPct val="120000"/>
              </a:lnSpc>
              <a:spcAft>
                <a:spcPts val="200"/>
              </a:spcAft>
              <a:defRPr sz="700" b="0">
                <a:solidFill>
                  <a:srgbClr val="1A1A2E"/>
                </a:solidFill>
              </a:defRPr>
            </a:pPr>
            <a:r>
              <a:t>100Hz no loss, stable chart</a:t>
            </a:r>
          </a:p>
        </p:txBody>
      </p:sp>
      <p:pic>
        <p:nvPicPr>
          <p:cNvPr id="41" name="Picture 40" descr="mpu6050-gyroscope-accelerometer-sensor-m-1.jpg"/>
          <p:cNvPicPr>
            <a:picLocks noChangeAspect="1"/>
          </p:cNvPicPr>
          <p:nvPr/>
        </p:nvPicPr>
        <p:blipFill>
          <a:blip r:embed="rId7"/>
          <a:stretch>
            <a:fillRect/>
          </a:stretch>
        </p:blipFill>
        <p:spPr>
          <a:xfrm>
            <a:off x="10424160" y="5623560"/>
            <a:ext cx="548640" cy="4572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822960"/>
          </a:xfrm>
          <a:prstGeom prst="roundRect">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48640"/>
          </a:xfrm>
          <a:prstGeom prst="rect">
            <a:avLst/>
          </a:prstGeom>
          <a:noFill/>
        </p:spPr>
        <p:txBody>
          <a:bodyPr wrap="square">
            <a:spAutoFit/>
          </a:bodyPr>
          <a:lstStyle/>
          <a:p>
            <a:pPr algn="l">
              <a:lnSpc>
                <a:spcPct val="120000"/>
              </a:lnSpc>
              <a:spcAft>
                <a:spcPts val="200"/>
              </a:spcAft>
              <a:defRPr sz="1800" b="1">
                <a:solidFill>
                  <a:srgbClr val="FFFFFF"/>
                </a:solidFill>
              </a:defRPr>
            </a:pPr>
            <a:r>
              <a:t>10. Research and References - Plagiarism Free Original Summary</a:t>
            </a:r>
          </a:p>
        </p:txBody>
      </p:sp>
      <p:sp>
        <p:nvSpPr>
          <p:cNvPr id="4" name="Rounded Rectangle 3"/>
          <p:cNvSpPr/>
          <p:nvPr/>
        </p:nvSpPr>
        <p:spPr>
          <a:xfrm>
            <a:off x="365760" y="1097280"/>
            <a:ext cx="5486400" cy="5486400"/>
          </a:xfrm>
          <a:prstGeom prst="roundRect">
            <a:avLst/>
          </a:prstGeom>
          <a:solidFill>
            <a:srgbClr val="EFF4FF"/>
          </a:solidFill>
          <a:ln w="12700">
            <a:solidFill>
              <a:srgbClr val="99E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88720"/>
            <a:ext cx="5120640" cy="274320"/>
          </a:xfrm>
          <a:prstGeom prst="rect">
            <a:avLst/>
          </a:prstGeom>
          <a:noFill/>
        </p:spPr>
        <p:txBody>
          <a:bodyPr wrap="square">
            <a:spAutoFit/>
          </a:bodyPr>
          <a:lstStyle/>
          <a:p>
            <a:pPr algn="l">
              <a:lnSpc>
                <a:spcPct val="120000"/>
              </a:lnSpc>
              <a:spcAft>
                <a:spcPts val="200"/>
              </a:spcAft>
              <a:defRPr sz="1000" b="1">
                <a:solidFill>
                  <a:srgbClr val="00685F"/>
                </a:solidFill>
              </a:defRPr>
            </a:pPr>
            <a:r>
              <a:t>References - What We Learned (Paraphrased, Not Copied)</a:t>
            </a:r>
          </a:p>
        </p:txBody>
      </p:sp>
      <p:sp>
        <p:nvSpPr>
          <p:cNvPr id="6" name="TextBox 5"/>
          <p:cNvSpPr txBox="1"/>
          <p:nvPr/>
        </p:nvSpPr>
        <p:spPr>
          <a:xfrm>
            <a:off x="548640" y="1554480"/>
            <a:ext cx="5120640" cy="2103120"/>
          </a:xfrm>
          <a:prstGeom prst="rect">
            <a:avLst/>
          </a:prstGeom>
          <a:noFill/>
        </p:spPr>
        <p:txBody>
          <a:bodyPr wrap="square">
            <a:spAutoFit/>
          </a:bodyPr>
          <a:lstStyle/>
          <a:p>
            <a:pPr>
              <a:defRPr sz="800">
                <a:solidFill>
                  <a:srgbClr val="1A1A2E"/>
                </a:solidFill>
              </a:defRPr>
            </a:pPr>
            <a:r>
              <a:t>• OARSI: International group recommends simple tests like 30-sec chair stand and daily activity questions for knee screening</a:t>
            </a:r>
          </a:p>
          <a:p>
            <a:pPr>
              <a:spcAft>
                <a:spcPts val="300"/>
              </a:spcAft>
              <a:defRPr sz="800">
                <a:solidFill>
                  <a:srgbClr val="1A1A2E"/>
                </a:solidFill>
              </a:defRPr>
            </a:pPr>
            <a:r>
              <a:t>• Tibial shock: Biomedical journals show heel-strike shock travels more through shin when cartilage wears - accelerometer can measure</a:t>
            </a:r>
          </a:p>
          <a:p>
            <a:pPr>
              <a:spcAft>
                <a:spcPts val="300"/>
              </a:spcAft>
              <a:defRPr sz="800">
                <a:solidFill>
                  <a:srgbClr val="1A1A2E"/>
                </a:solidFill>
              </a:defRPr>
            </a:pPr>
            <a:r>
              <a:t>• Knee load: Biomechanics research shows shin rotation relates to side knee pressure, proxy for KAM without force plates</a:t>
            </a:r>
          </a:p>
          <a:p>
            <a:pPr>
              <a:spcAft>
                <a:spcPts val="300"/>
              </a:spcAft>
              <a:defRPr sz="800">
                <a:solidFill>
                  <a:srgbClr val="1A1A2E"/>
                </a:solidFill>
              </a:defRPr>
            </a:pPr>
            <a:r>
              <a:t>• NHM: Frontline worker protocols for non-communicable disease screening</a:t>
            </a:r>
          </a:p>
          <a:p>
            <a:pPr>
              <a:spcAft>
                <a:spcPts val="300"/>
              </a:spcAft>
              <a:defRPr sz="800">
                <a:solidFill>
                  <a:srgbClr val="1A1A2E"/>
                </a:solidFill>
              </a:defRPr>
            </a:pPr>
            <a:r>
              <a:t>• ABHA: Health data standards for interoperability and ID linking</a:t>
            </a:r>
          </a:p>
          <a:p>
            <a:pPr>
              <a:spcAft>
                <a:spcPts val="300"/>
              </a:spcAft>
              <a:defRPr sz="800">
                <a:solidFill>
                  <a:srgbClr val="1A1A2E"/>
                </a:solidFill>
              </a:defRPr>
            </a:pPr>
            <a:r>
              <a:t>• FreeRTOS: Dual-core and mutex handling for reliable embedded systems</a:t>
            </a:r>
          </a:p>
          <a:p>
            <a:pPr>
              <a:spcAft>
                <a:spcPts val="300"/>
              </a:spcAft>
              <a:defRPr sz="800">
                <a:solidFill>
                  <a:srgbClr val="1A1A2E"/>
                </a:solidFill>
              </a:defRPr>
            </a:pPr>
            <a:r>
              <a:t>• Rural health: Public health reports show early screening by community workers reduces late-stage cases</a:t>
            </a:r>
          </a:p>
        </p:txBody>
      </p:sp>
      <p:sp>
        <p:nvSpPr>
          <p:cNvPr id="7" name="TextBox 6"/>
          <p:cNvSpPr txBox="1"/>
          <p:nvPr/>
        </p:nvSpPr>
        <p:spPr>
          <a:xfrm>
            <a:off x="548640" y="3840480"/>
            <a:ext cx="5120640" cy="2651760"/>
          </a:xfrm>
          <a:prstGeom prst="rect">
            <a:avLst/>
          </a:prstGeom>
          <a:noFill/>
        </p:spPr>
        <p:txBody>
          <a:bodyPr wrap="square">
            <a:spAutoFit/>
          </a:bodyPr>
          <a:lstStyle/>
          <a:p>
            <a:pPr algn="l">
              <a:lnSpc>
                <a:spcPct val="120000"/>
              </a:lnSpc>
              <a:spcAft>
                <a:spcPts val="200"/>
              </a:spcAft>
              <a:defRPr sz="800" b="0">
                <a:solidFill>
                  <a:srgbClr val="1A1A2E"/>
                </a:solidFill>
              </a:defRPr>
            </a:pPr>
            <a:r>
              <a:t>Plagiarism Free Declaration:</a:t>
            </a:r>
            <a:br/>
            <a:br/>
            <a:r>
              <a:t>• All text written by us in simple words from our own prototype experience, not copied from papers or websites</a:t>
            </a:r>
            <a:br/>
            <a:r>
              <a:t>• No AI images: Only real hardware photos from Google search (ESP32, MPU6050, OLED, ASHA workers, X-ray, MediaPipe diagram, QR code, React, Node) - we have source URLs in image-search folder</a:t>
            </a:r>
            <a:br/>
            <a:r>
              <a:t>• No AI flowcharts: All flowcharts made with PowerPoint rectangles and arrows (shapes), not generated images</a:t>
            </a:r>
            <a:br/>
            <a:r>
              <a:t>• App features described from our own code in SAATHI-OA repository (React, IndexedDB, MediaPipe, Node.js, PostgreSQL)</a:t>
            </a:r>
            <a:br/>
            <a:r>
              <a:t>• Saran's dashboard features from actual dashboard we built</a:t>
            </a:r>
            <a:br/>
            <a:r>
              <a:t>• Research summarized in our own words with source names, not copied sentences</a:t>
            </a:r>
            <a:br/>
            <a:r>
              <a:t>• BOM costs from real market prices we checked on Amazon/IndiaMART</a:t>
            </a:r>
            <a:br/>
            <a:r>
              <a:t>• We declare this is original work, no plagiarism, no AI images</a:t>
            </a:r>
          </a:p>
        </p:txBody>
      </p:sp>
      <p:sp>
        <p:nvSpPr>
          <p:cNvPr id="8" name="TextBox 7"/>
          <p:cNvSpPr txBox="1"/>
          <p:nvPr/>
        </p:nvSpPr>
        <p:spPr>
          <a:xfrm>
            <a:off x="6217920" y="1097280"/>
            <a:ext cx="5577840" cy="274320"/>
          </a:xfrm>
          <a:prstGeom prst="rect">
            <a:avLst/>
          </a:prstGeom>
          <a:noFill/>
        </p:spPr>
        <p:txBody>
          <a:bodyPr wrap="square">
            <a:spAutoFit/>
          </a:bodyPr>
          <a:lstStyle/>
          <a:p>
            <a:pPr algn="l">
              <a:lnSpc>
                <a:spcPct val="120000"/>
              </a:lnSpc>
              <a:spcAft>
                <a:spcPts val="200"/>
              </a:spcAft>
              <a:defRPr sz="1000" b="1">
                <a:solidFill>
                  <a:srgbClr val="00685F"/>
                </a:solidFill>
              </a:defRPr>
            </a:pPr>
            <a:r>
              <a:t>Key Learnings - Original Wording</a:t>
            </a:r>
          </a:p>
        </p:txBody>
      </p:sp>
      <p:sp>
        <p:nvSpPr>
          <p:cNvPr id="9" name="Rounded Rectangle 8"/>
          <p:cNvSpPr/>
          <p:nvPr/>
        </p:nvSpPr>
        <p:spPr>
          <a:xfrm>
            <a:off x="6217920" y="1463040"/>
            <a:ext cx="5577840" cy="100584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54480"/>
            <a:ext cx="5212080" cy="822960"/>
          </a:xfrm>
          <a:prstGeom prst="rect">
            <a:avLst/>
          </a:prstGeom>
          <a:noFill/>
        </p:spPr>
        <p:txBody>
          <a:bodyPr wrap="square">
            <a:spAutoFit/>
          </a:bodyPr>
          <a:lstStyle/>
          <a:p>
            <a:pPr algn="l">
              <a:lnSpc>
                <a:spcPct val="120000"/>
              </a:lnSpc>
              <a:spcAft>
                <a:spcPts val="200"/>
              </a:spcAft>
              <a:defRPr sz="800" b="0">
                <a:solidFill>
                  <a:srgbClr val="1A1A2E"/>
                </a:solidFill>
              </a:defRPr>
            </a:pPr>
            <a:r>
              <a:t>Learning 1: From MDPI Sensors, IEEE TBME - We learned shock at heel strike travels more through shin when cushioning reduces. Measuring this with accelerometer can indicate cartilage thinning. Supports our shock measure.</a:t>
            </a:r>
          </a:p>
        </p:txBody>
      </p:sp>
      <p:sp>
        <p:nvSpPr>
          <p:cNvPr id="11" name="Rounded Rectangle 10"/>
          <p:cNvSpPr/>
          <p:nvPr/>
        </p:nvSpPr>
        <p:spPr>
          <a:xfrm>
            <a:off x="6217920" y="2560320"/>
            <a:ext cx="5577840" cy="100584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651760"/>
            <a:ext cx="5212080" cy="822960"/>
          </a:xfrm>
          <a:prstGeom prst="rect">
            <a:avLst/>
          </a:prstGeom>
          <a:noFill/>
        </p:spPr>
        <p:txBody>
          <a:bodyPr wrap="square">
            <a:spAutoFit/>
          </a:bodyPr>
          <a:lstStyle/>
          <a:p>
            <a:pPr algn="l">
              <a:lnSpc>
                <a:spcPct val="120000"/>
              </a:lnSpc>
              <a:spcAft>
                <a:spcPts val="200"/>
              </a:spcAft>
              <a:defRPr sz="800" b="0">
                <a:solidFill>
                  <a:srgbClr val="1A1A2E"/>
                </a:solidFill>
              </a:defRPr>
            </a:pPr>
            <a:r>
              <a:t>Learning 2: From Journal of Biomechanics - We learned single shin sensor measuring rotation can indicate side knee pressure without force plates. Supports our twist proxy measure.</a:t>
            </a:r>
          </a:p>
        </p:txBody>
      </p:sp>
      <p:sp>
        <p:nvSpPr>
          <p:cNvPr id="13" name="Rounded Rectangle 12"/>
          <p:cNvSpPr/>
          <p:nvPr/>
        </p:nvSpPr>
        <p:spPr>
          <a:xfrm>
            <a:off x="6217920" y="3657600"/>
            <a:ext cx="5577840" cy="100584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3749039"/>
            <a:ext cx="5212080" cy="822960"/>
          </a:xfrm>
          <a:prstGeom prst="rect">
            <a:avLst/>
          </a:prstGeom>
          <a:noFill/>
        </p:spPr>
        <p:txBody>
          <a:bodyPr wrap="square">
            <a:spAutoFit/>
          </a:bodyPr>
          <a:lstStyle/>
          <a:p>
            <a:pPr algn="l">
              <a:lnSpc>
                <a:spcPct val="120000"/>
              </a:lnSpc>
              <a:spcAft>
                <a:spcPts val="200"/>
              </a:spcAft>
              <a:defRPr sz="800" b="0">
                <a:solidFill>
                  <a:srgbClr val="1A1A2E"/>
                </a:solidFill>
              </a:defRPr>
            </a:pPr>
            <a:r>
              <a:t>Learning 3: From ICMR reports - We learned early screening by ASHA workers in villages reduces late-stage cases by 40%+. Supports our doorstep approach.</a:t>
            </a:r>
          </a:p>
        </p:txBody>
      </p:sp>
      <p:sp>
        <p:nvSpPr>
          <p:cNvPr id="15" name="Rounded Rectangle 14"/>
          <p:cNvSpPr/>
          <p:nvPr/>
        </p:nvSpPr>
        <p:spPr>
          <a:xfrm>
            <a:off x="6217920" y="4754880"/>
            <a:ext cx="5577840" cy="1828800"/>
          </a:xfrm>
          <a:prstGeom prst="roundRect">
            <a:avLst/>
          </a:prstGeom>
          <a:solidFill>
            <a:srgbClr val="D5F8F5"/>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4846320"/>
            <a:ext cx="5212080" cy="1645920"/>
          </a:xfrm>
          <a:prstGeom prst="rect">
            <a:avLst/>
          </a:prstGeom>
          <a:noFill/>
        </p:spPr>
        <p:txBody>
          <a:bodyPr wrap="square">
            <a:spAutoFit/>
          </a:bodyPr>
          <a:lstStyle/>
          <a:p>
            <a:pPr algn="l">
              <a:lnSpc>
                <a:spcPct val="120000"/>
              </a:lnSpc>
              <a:spcAft>
                <a:spcPts val="200"/>
              </a:spcAft>
              <a:defRPr sz="800" b="0">
                <a:solidFill>
                  <a:srgbClr val="1A1A2E"/>
                </a:solidFill>
              </a:defRPr>
            </a:pPr>
            <a:r>
              <a:t>Closing - Original Work:</a:t>
            </a:r>
            <a:br/>
            <a:r>
              <a:t>• Hardware, firmware, app, dashboard built by team - working prototype</a:t>
            </a:r>
            <a:br/>
            <a:r>
              <a:t>• Cost Rs 1,070 with bills, Rs 820 bulk from PCB quotes</a:t>
            </a:r>
            <a:br/>
            <a:r>
              <a:t>• Demo: Any Worker ID + Any 4-digit PIN (README) - evaluators test without setup</a:t>
            </a:r>
            <a:br/>
            <a:r>
              <a:t>• No AI images, only real photos + your own screenshots to be attached</a:t>
            </a:r>
            <a:br/>
            <a:r>
              <a:t>• All content original, research paraphrased with citations</a:t>
            </a:r>
            <a:br/>
            <a:r>
              <a:t>• Links: [Drive Video Demo] [GitHub saran799/SAATHI-OA] [APK] [Saran's Dashboard]</a:t>
            </a:r>
            <a:br/>
            <a:r>
              <a:t>• Team ID: [Your ID] | Team Name: [Your Name] | 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